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0D4BF-906C-4090-DD72-1301BFF0C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AFD180-1497-0BE5-548D-D3464D3F4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B8684B-929E-A3C7-176B-5E2FBAFE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092A3-8904-4172-56D2-C2172858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D86A79-3B41-0326-CCD3-A93337FCD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7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4CC47-6EDA-F996-31E8-F81DAB75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D6B9CE-8038-F6AB-6AB7-E74D50465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6F1C66-99ED-2F27-2B34-DD5423DBB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72FB5-CE0F-37C3-5D19-B74F0F568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F57603-7DD4-CF56-B3C6-390665D0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31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6DACF-69E2-12FF-EEC9-6D861D9D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A46966-3CDE-6FE9-C67E-4F7D6BF05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0A3248-8C45-E7F6-E645-4FDFF6E4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80C9B-86D7-E697-39CB-C9A027DB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1978E-B6B8-8D95-75EF-94143572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04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58C56-41BC-592F-C037-5B2A15AF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2137F-46DD-BD22-4C03-6F3C336F2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025787-2655-76FC-0427-8230FABD6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4F49FF-F79E-F2E9-325D-748BDF1E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8C310E-DCDF-6654-6E65-6AE9884D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DBEC8F-08A1-EC6B-BC5F-53700E32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77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36CB0-308D-3A95-6E29-E48E15108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A4E011-C4BE-8944-A437-89434C2F2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03310F-7FB3-91BD-366E-1452E4CD9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82C5CF-7998-9A51-82B2-2A3EFD564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2E6857-CE91-BC10-86AA-76F30B5268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42D311-AA5C-ADE2-7F7E-EE8AB0AE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B0D495-2EE3-204D-CB23-171724164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55C697-F01C-2C39-440B-D40D75E4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24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C9350-C513-F4DB-4E87-4EFA3661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FA8048-E1A2-166A-D616-16415DB6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D5CF08-35A5-9FC9-5C3C-8C0AB9FC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E8CD96-477A-EBE7-A618-3AA601DEF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30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8EBE1D-E0D3-8DE1-AE46-06D69DC74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660447-B149-92ED-CC72-9A76FE82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E3962-36BF-8FC7-8674-C4D122A1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41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A9FF5E-C553-B202-C0A8-F72AAED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78893-39C0-8DC6-EE5C-AF5F2CF61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D99DD8-B92E-3DAA-BE55-FECBEBCC6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4B979D-F7B9-F676-34D5-55D026DB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751A67-5D0A-1646-7295-037046CC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65A91D-8408-FE4D-C38C-DBE14198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92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5A9DD-51DF-5621-E1B9-8C44F49F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CD1ED2-9570-BF96-4D0D-96959F167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52CDD9-1626-FB1B-962F-864577A8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FD0460-A382-58D4-045A-AD7D8F8E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FAEC12-3746-A274-8AEF-39E130BA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FFD33A-71BF-BA03-E9D3-389A643E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697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E0C4B-0B54-BFF4-84B9-5D664E83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860312-CC2B-2DC9-7EE0-CA8B42EDC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49BE03-2C6D-BF48-FC1F-B964D15E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BF54E0-926E-FA78-5820-8D0BC1AC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27B99C-2F03-5B6C-F81F-6D44D32A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53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DD3818-2A4A-04FB-9C5A-182D1F327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499C40-683B-AFA7-8496-E751EFE49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881CF0-8F06-2E01-6188-CC259679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919F4A-E3FE-82BD-5C61-3CA641D4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B5A1DD-20C8-A4BA-DFB6-2FBE6823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31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FA96FC-2758-709B-939F-2B2D61CC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86036A-2176-87D0-906C-B79EF9BA7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4649CD-9BD6-E35F-72E2-EF248E745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0E0D3-91A2-41BC-BC31-2E5EEB6121F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2F13D7-9F05-45B5-B13D-95210B7E8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093073-ADCC-3037-3DD8-BDED779CE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08C1F-32EF-4635-93E5-EA4CCB3EC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98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0552BD2-3485-3702-9901-5692D08E22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2F4FB3-0C60-0575-D0E6-2EF3792EE0B7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D0F7F7-DD2B-FF94-E58C-61531DE255DB}"/>
              </a:ext>
            </a:extLst>
          </p:cNvPr>
          <p:cNvSpPr txBox="1"/>
          <p:nvPr/>
        </p:nvSpPr>
        <p:spPr>
          <a:xfrm>
            <a:off x="812800" y="1422400"/>
            <a:ext cx="914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400" b="1">
                <a:solidFill>
                  <a:srgbClr val="091E42"/>
                </a:solidFill>
                <a:latin typeface="Microsoft YaHei" panose="020B0503020204020204" pitchFamily="34" charset="-122"/>
              </a:rPr>
              <a:t>石化地学数据展示平台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6B9E58-D497-A74E-3305-A5FD63B7EFB0}"/>
              </a:ext>
            </a:extLst>
          </p:cNvPr>
          <p:cNvSpPr txBox="1"/>
          <p:nvPr/>
        </p:nvSpPr>
        <p:spPr>
          <a:xfrm>
            <a:off x="838200" y="22860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>
                <a:solidFill>
                  <a:srgbClr val="5B6F89"/>
                </a:solidFill>
                <a:latin typeface="Microsoft YaHei" panose="020B0503020204020204" pitchFamily="34" charset="-122"/>
              </a:rPr>
              <a:t>系统设计实现架构、功能展示与后续协同计划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753AB58-39CA-AD2F-E111-4F9BEF6132AB}"/>
              </a:ext>
            </a:extLst>
          </p:cNvPr>
          <p:cNvSpPr/>
          <p:nvPr/>
        </p:nvSpPr>
        <p:spPr>
          <a:xfrm>
            <a:off x="838200" y="3022600"/>
            <a:ext cx="1625600" cy="279400"/>
          </a:xfrm>
          <a:prstGeom prst="roundRect">
            <a:avLst/>
          </a:prstGeom>
          <a:solidFill>
            <a:srgbClr val="E8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MapGIS IGServer</a:t>
            </a:r>
            <a:endParaRPr lang="zh-CN" altLang="en-US" sz="900" b="1">
              <a:solidFill>
                <a:srgbClr val="0F6D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EC8A838-1336-11FB-BDB0-57A60FD90243}"/>
              </a:ext>
            </a:extLst>
          </p:cNvPr>
          <p:cNvSpPr/>
          <p:nvPr/>
        </p:nvSpPr>
        <p:spPr>
          <a:xfrm>
            <a:off x="2616200" y="3022600"/>
            <a:ext cx="1422400" cy="279400"/>
          </a:xfrm>
          <a:prstGeom prst="roundRect">
            <a:avLst/>
          </a:prstGeom>
          <a:solidFill>
            <a:srgbClr val="E8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FeatureServer</a:t>
            </a:r>
            <a:endParaRPr lang="zh-CN" altLang="en-US" sz="900" b="1">
              <a:solidFill>
                <a:srgbClr val="0F6D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F5665F5-9EE2-0AA7-6D4C-63528D3D738C}"/>
              </a:ext>
            </a:extLst>
          </p:cNvPr>
          <p:cNvSpPr/>
          <p:nvPr/>
        </p:nvSpPr>
        <p:spPr>
          <a:xfrm>
            <a:off x="4191000" y="3022600"/>
            <a:ext cx="2159000" cy="279400"/>
          </a:xfrm>
          <a:prstGeom prst="roundRect">
            <a:avLst/>
          </a:prstGeom>
          <a:solidFill>
            <a:srgbClr val="E8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井位 </a:t>
            </a:r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盆地 </a:t>
            </a:r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井史 </a:t>
            </a:r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曲线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7978218-A3B4-3B98-1ABA-27C8C2765E7C}"/>
              </a:ext>
            </a:extLst>
          </p:cNvPr>
          <p:cNvSpPr/>
          <p:nvPr/>
        </p:nvSpPr>
        <p:spPr>
          <a:xfrm>
            <a:off x="7747000" y="1498600"/>
            <a:ext cx="3429000" cy="241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B97308-358F-5E8B-25CC-7C1413E9578D}"/>
              </a:ext>
            </a:extLst>
          </p:cNvPr>
          <p:cNvSpPr/>
          <p:nvPr/>
        </p:nvSpPr>
        <p:spPr>
          <a:xfrm>
            <a:off x="7747000" y="1498600"/>
            <a:ext cx="76200" cy="2413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297D79-8463-7286-2A6C-A4EA2B29FFBF}"/>
              </a:ext>
            </a:extLst>
          </p:cNvPr>
          <p:cNvSpPr txBox="1"/>
          <p:nvPr/>
        </p:nvSpPr>
        <p:spPr>
          <a:xfrm>
            <a:off x="7975600" y="1701800"/>
            <a:ext cx="304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当前状态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D125CD-ACBC-0581-878D-F74F183C5C46}"/>
              </a:ext>
            </a:extLst>
          </p:cNvPr>
          <p:cNvSpPr txBox="1"/>
          <p:nvPr/>
        </p:nvSpPr>
        <p:spPr>
          <a:xfrm>
            <a:off x="7975600" y="2082800"/>
            <a:ext cx="304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已完成真实井位与盆地服务接入，完成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井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盆地专题表整理，并保留样例测井曲线展示能力。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DBE8988-47E8-0987-F53A-3BA8ADB4C3BB}"/>
              </a:ext>
            </a:extLst>
          </p:cNvPr>
          <p:cNvSpPr/>
          <p:nvPr/>
        </p:nvSpPr>
        <p:spPr>
          <a:xfrm>
            <a:off x="558800" y="6350000"/>
            <a:ext cx="2413000" cy="304800"/>
          </a:xfrm>
          <a:prstGeom prst="roundRect">
            <a:avLst/>
          </a:prstGeom>
          <a:solidFill>
            <a:srgbClr val="E8F1FF"/>
          </a:solidFill>
          <a:ln>
            <a:solidFill>
              <a:srgbClr val="CADA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rgbClr val="205ECF"/>
                </a:solidFill>
                <a:latin typeface="Microsoft YaHei" panose="020B0503020204020204" pitchFamily="34" charset="-122"/>
              </a:rPr>
              <a:t>汇报版本：初步完成版 </a:t>
            </a:r>
            <a:r>
              <a:rPr lang="en-US" altLang="zh-CN" sz="1000" b="1">
                <a:solidFill>
                  <a:srgbClr val="205ECF"/>
                </a:solidFill>
                <a:latin typeface="Microsoft YaHei" panose="020B0503020204020204" pitchFamily="34" charset="-122"/>
              </a:rPr>
              <a:t>/ 2026-04</a:t>
            </a:r>
            <a:endParaRPr lang="zh-CN" altLang="en-US" sz="1000" b="1">
              <a:solidFill>
                <a:srgbClr val="205EC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621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844BAF-5F57-5D24-DECF-BB0E08C262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DCB32D-DC7C-02BB-EBCF-A557EDA3F51A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772D80-D6E9-11CA-24A4-684034062F5C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汇报内容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C99AD3-F9DE-FE5E-79CC-CEE4F1F54942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从建设目标到系统实现，再到后续计划和协同事项。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1F1AF4B-2826-A9A9-9E6E-6A0FE60EA353}"/>
              </a:ext>
            </a:extLst>
          </p:cNvPr>
          <p:cNvSpPr/>
          <p:nvPr/>
        </p:nvSpPr>
        <p:spPr>
          <a:xfrm>
            <a:off x="1168400" y="17526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7D0C87-5138-D988-3855-5C7C59D32DF7}"/>
              </a:ext>
            </a:extLst>
          </p:cNvPr>
          <p:cNvSpPr/>
          <p:nvPr/>
        </p:nvSpPr>
        <p:spPr>
          <a:xfrm>
            <a:off x="1168400" y="17526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ADCA08-5EC4-D172-64B1-195C39D06908}"/>
              </a:ext>
            </a:extLst>
          </p:cNvPr>
          <p:cNvSpPr txBox="1"/>
          <p:nvPr/>
        </p:nvSpPr>
        <p:spPr>
          <a:xfrm>
            <a:off x="1397000" y="19558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01.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建设目标与系统定位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8E3322-3100-FCAF-7CE8-ACB543359B8A}"/>
              </a:ext>
            </a:extLst>
          </p:cNvPr>
          <p:cNvSpPr txBox="1"/>
          <p:nvPr/>
        </p:nvSpPr>
        <p:spPr>
          <a:xfrm>
            <a:off x="1397000" y="23368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6D2DA08-D10E-CB28-846B-22B1DE4657F7}"/>
              </a:ext>
            </a:extLst>
          </p:cNvPr>
          <p:cNvSpPr/>
          <p:nvPr/>
        </p:nvSpPr>
        <p:spPr>
          <a:xfrm>
            <a:off x="4597400" y="17526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20D660-0EF1-A7B6-FDF2-14C1673ACB26}"/>
              </a:ext>
            </a:extLst>
          </p:cNvPr>
          <p:cNvSpPr/>
          <p:nvPr/>
        </p:nvSpPr>
        <p:spPr>
          <a:xfrm>
            <a:off x="4597400" y="17526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4635A3-4019-72C4-6F3B-F8D068859C9F}"/>
              </a:ext>
            </a:extLst>
          </p:cNvPr>
          <p:cNvSpPr txBox="1"/>
          <p:nvPr/>
        </p:nvSpPr>
        <p:spPr>
          <a:xfrm>
            <a:off x="4826000" y="19558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02.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总体架构与数据链路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1529EC-4A03-ADEC-E847-0287F897C157}"/>
              </a:ext>
            </a:extLst>
          </p:cNvPr>
          <p:cNvSpPr txBox="1"/>
          <p:nvPr/>
        </p:nvSpPr>
        <p:spPr>
          <a:xfrm>
            <a:off x="4826000" y="23368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AC37F75-F2B0-F346-31EC-CF260FCC5E92}"/>
              </a:ext>
            </a:extLst>
          </p:cNvPr>
          <p:cNvSpPr/>
          <p:nvPr/>
        </p:nvSpPr>
        <p:spPr>
          <a:xfrm>
            <a:off x="8026400" y="17526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763E08-8110-63BF-A3D4-3C75CD488ABD}"/>
              </a:ext>
            </a:extLst>
          </p:cNvPr>
          <p:cNvSpPr/>
          <p:nvPr/>
        </p:nvSpPr>
        <p:spPr>
          <a:xfrm>
            <a:off x="8026400" y="17526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6C7533F-6920-1031-1036-79DF27F2EEDE}"/>
              </a:ext>
            </a:extLst>
          </p:cNvPr>
          <p:cNvSpPr txBox="1"/>
          <p:nvPr/>
        </p:nvSpPr>
        <p:spPr>
          <a:xfrm>
            <a:off x="8255000" y="19558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03.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核心功能展示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C033C3-BEEF-AC8D-1E00-B31A7EAED25F}"/>
              </a:ext>
            </a:extLst>
          </p:cNvPr>
          <p:cNvSpPr txBox="1"/>
          <p:nvPr/>
        </p:nvSpPr>
        <p:spPr>
          <a:xfrm>
            <a:off x="8255000" y="23368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A001F15-2933-E7E4-4D7E-F75636312A49}"/>
              </a:ext>
            </a:extLst>
          </p:cNvPr>
          <p:cNvSpPr/>
          <p:nvPr/>
        </p:nvSpPr>
        <p:spPr>
          <a:xfrm>
            <a:off x="1168400" y="35052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329DC7-250D-F038-AA49-3501AB8F2174}"/>
              </a:ext>
            </a:extLst>
          </p:cNvPr>
          <p:cNvSpPr/>
          <p:nvPr/>
        </p:nvSpPr>
        <p:spPr>
          <a:xfrm>
            <a:off x="1168400" y="35052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746AD44-F5A1-6F0A-2930-26B3F424076C}"/>
              </a:ext>
            </a:extLst>
          </p:cNvPr>
          <p:cNvSpPr txBox="1"/>
          <p:nvPr/>
        </p:nvSpPr>
        <p:spPr>
          <a:xfrm>
            <a:off x="1397000" y="37084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04.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当前成果与存在边界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DF8AEA-9694-EB7D-48A1-8BE6F8BC6F0C}"/>
              </a:ext>
            </a:extLst>
          </p:cNvPr>
          <p:cNvSpPr txBox="1"/>
          <p:nvPr/>
        </p:nvSpPr>
        <p:spPr>
          <a:xfrm>
            <a:off x="1397000" y="40894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DDF8CB1-42F1-8AF4-8C05-FCED2DCF4667}"/>
              </a:ext>
            </a:extLst>
          </p:cNvPr>
          <p:cNvSpPr/>
          <p:nvPr/>
        </p:nvSpPr>
        <p:spPr>
          <a:xfrm>
            <a:off x="4597400" y="35052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0B9159-7057-3B20-5223-9C5FC48DEE81}"/>
              </a:ext>
            </a:extLst>
          </p:cNvPr>
          <p:cNvSpPr/>
          <p:nvPr/>
        </p:nvSpPr>
        <p:spPr>
          <a:xfrm>
            <a:off x="4597400" y="35052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694A6BA-D695-9B46-EE55-A3DA25EA8C19}"/>
              </a:ext>
            </a:extLst>
          </p:cNvPr>
          <p:cNvSpPr txBox="1"/>
          <p:nvPr/>
        </p:nvSpPr>
        <p:spPr>
          <a:xfrm>
            <a:off x="4826000" y="37084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05.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后续建设计划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56989F4-CE3C-4463-9655-C94F81A96ACE}"/>
              </a:ext>
            </a:extLst>
          </p:cNvPr>
          <p:cNvSpPr txBox="1"/>
          <p:nvPr/>
        </p:nvSpPr>
        <p:spPr>
          <a:xfrm>
            <a:off x="4826000" y="40894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9753D95-3AC6-AC4C-A8A4-6FFFB5861583}"/>
              </a:ext>
            </a:extLst>
          </p:cNvPr>
          <p:cNvSpPr/>
          <p:nvPr/>
        </p:nvSpPr>
        <p:spPr>
          <a:xfrm>
            <a:off x="8026400" y="35052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0D3C3CA-8483-8F48-82FD-13F4D3CC313E}"/>
              </a:ext>
            </a:extLst>
          </p:cNvPr>
          <p:cNvSpPr/>
          <p:nvPr/>
        </p:nvSpPr>
        <p:spPr>
          <a:xfrm>
            <a:off x="8026400" y="35052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FACA4C4-61DF-77C4-DC9A-BC9F4C0C1373}"/>
              </a:ext>
            </a:extLst>
          </p:cNvPr>
          <p:cNvSpPr txBox="1"/>
          <p:nvPr/>
        </p:nvSpPr>
        <p:spPr>
          <a:xfrm>
            <a:off x="8255000" y="3708400"/>
            <a:ext cx="2413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06.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需要其他专题协助的问题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6623B5D-0D43-4916-5FD9-FA214B1FBE9A}"/>
              </a:ext>
            </a:extLst>
          </p:cNvPr>
          <p:cNvSpPr txBox="1"/>
          <p:nvPr/>
        </p:nvSpPr>
        <p:spPr>
          <a:xfrm>
            <a:off x="8255000" y="40894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023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1CFB2EF-068F-E001-1EA3-60B94AAFDF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837346-5BAA-DC16-6018-CF4A8A235E52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454907-AE9B-7C60-C707-6485FA003E67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系统定位：从演示页面走向数据工作台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343C6E-12A7-56B4-F762-0CD73DF672FB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以真实数据展示与可操作检索为核心，而不是单纯做汇报页面。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A449C38-F21C-CF0B-6100-9C7DA12DB8DD}"/>
              </a:ext>
            </a:extLst>
          </p:cNvPr>
          <p:cNvSpPr/>
          <p:nvPr/>
        </p:nvSpPr>
        <p:spPr>
          <a:xfrm>
            <a:off x="762000" y="1651000"/>
            <a:ext cx="3238500" cy="1905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81BF6E-8AB6-3119-6CD7-09B5FEAD1331}"/>
              </a:ext>
            </a:extLst>
          </p:cNvPr>
          <p:cNvSpPr/>
          <p:nvPr/>
        </p:nvSpPr>
        <p:spPr>
          <a:xfrm>
            <a:off x="762000" y="1651000"/>
            <a:ext cx="76200" cy="1905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C71226-8979-6B54-C88B-7337A5B3C9C8}"/>
              </a:ext>
            </a:extLst>
          </p:cNvPr>
          <p:cNvSpPr txBox="1"/>
          <p:nvPr/>
        </p:nvSpPr>
        <p:spPr>
          <a:xfrm>
            <a:off x="990600" y="18542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面向对象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BEE84D-0C77-96D9-8675-33E174F29B95}"/>
              </a:ext>
            </a:extLst>
          </p:cNvPr>
          <p:cNvSpPr txBox="1"/>
          <p:nvPr/>
        </p:nvSpPr>
        <p:spPr>
          <a:xfrm>
            <a:off x="990600" y="2235200"/>
            <a:ext cx="28575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围绕盆地对象、井位对象和井专题资料组织展示，支持从空间位置进入业务属性。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06DCF3D-E982-9443-254D-DF2AC0265054}"/>
              </a:ext>
            </a:extLst>
          </p:cNvPr>
          <p:cNvSpPr/>
          <p:nvPr/>
        </p:nvSpPr>
        <p:spPr>
          <a:xfrm>
            <a:off x="4470400" y="1651000"/>
            <a:ext cx="3238500" cy="1905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CEE7B3-D5D3-E9B4-B99F-89EC266545D8}"/>
              </a:ext>
            </a:extLst>
          </p:cNvPr>
          <p:cNvSpPr/>
          <p:nvPr/>
        </p:nvSpPr>
        <p:spPr>
          <a:xfrm>
            <a:off x="4470400" y="1651000"/>
            <a:ext cx="76200" cy="1905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8A4CB8-01FC-671F-7EB2-CD817829F18B}"/>
              </a:ext>
            </a:extLst>
          </p:cNvPr>
          <p:cNvSpPr txBox="1"/>
          <p:nvPr/>
        </p:nvSpPr>
        <p:spPr>
          <a:xfrm>
            <a:off x="4699000" y="18542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面向服务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98FEC3-F506-DE62-E234-84263B776903}"/>
              </a:ext>
            </a:extLst>
          </p:cNvPr>
          <p:cNvSpPr txBox="1"/>
          <p:nvPr/>
        </p:nvSpPr>
        <p:spPr>
          <a:xfrm>
            <a:off x="4699000" y="2235200"/>
            <a:ext cx="28575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优先接入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IGServer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已发布的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FeatureServer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服务，避免前端直接读取散落的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shp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文件。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EEFD121-5122-1B0A-B061-AF75CA691497}"/>
              </a:ext>
            </a:extLst>
          </p:cNvPr>
          <p:cNvSpPr/>
          <p:nvPr/>
        </p:nvSpPr>
        <p:spPr>
          <a:xfrm>
            <a:off x="8178800" y="1651000"/>
            <a:ext cx="3238500" cy="1905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4ED627-7743-F337-97CB-620CA624223D}"/>
              </a:ext>
            </a:extLst>
          </p:cNvPr>
          <p:cNvSpPr/>
          <p:nvPr/>
        </p:nvSpPr>
        <p:spPr>
          <a:xfrm>
            <a:off x="8178800" y="1651000"/>
            <a:ext cx="76200" cy="1905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6BA68E-7678-992B-B756-50CA97839970}"/>
              </a:ext>
            </a:extLst>
          </p:cNvPr>
          <p:cNvSpPr txBox="1"/>
          <p:nvPr/>
        </p:nvSpPr>
        <p:spPr>
          <a:xfrm>
            <a:off x="8407400" y="18542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面向扩展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490B1B3-5B45-362A-40FB-1C0ED5611D91}"/>
              </a:ext>
            </a:extLst>
          </p:cNvPr>
          <p:cNvSpPr txBox="1"/>
          <p:nvPr/>
        </p:nvSpPr>
        <p:spPr>
          <a:xfrm>
            <a:off x="8407400" y="2235200"/>
            <a:ext cx="28575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保留本地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JSON/CSV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回退能力，后续可平滑扩展到数据库、权限、曲线文件和更多专题表。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16347A6-4D50-75E6-FCD8-5844587D69A6}"/>
              </a:ext>
            </a:extLst>
          </p:cNvPr>
          <p:cNvSpPr txBox="1"/>
          <p:nvPr/>
        </p:nvSpPr>
        <p:spPr>
          <a:xfrm>
            <a:off x="965200" y="4191000"/>
            <a:ext cx="10033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B4C68"/>
                </a:solidFill>
                <a:latin typeface="Microsoft YaHei" panose="020B0503020204020204" pitchFamily="34" charset="-122"/>
              </a:rPr>
              <a:t>当前已不再以会议材料为主线，而是以数据检索、地图联动、井</a:t>
            </a:r>
            <a:r>
              <a:rPr lang="en-US" altLang="zh-CN" sz="1500">
                <a:solidFill>
                  <a:srgbClr val="3B4C6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3B4C68"/>
                </a:solidFill>
                <a:latin typeface="Microsoft YaHei" panose="020B0503020204020204" pitchFamily="34" charset="-122"/>
              </a:rPr>
              <a:t>盆地详情为主线。</a:t>
            </a: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B4C68"/>
                </a:solidFill>
                <a:latin typeface="Microsoft YaHei" panose="020B0503020204020204" pitchFamily="34" charset="-122"/>
              </a:rPr>
              <a:t>系统支持先小规模接入真实数据，再逐步拓展为完整业务平台。</a:t>
            </a:r>
          </a:p>
        </p:txBody>
      </p:sp>
    </p:spTree>
    <p:extLst>
      <p:ext uri="{BB962C8B-B14F-4D97-AF65-F5344CB8AC3E}">
        <p14:creationId xmlns:p14="http://schemas.microsoft.com/office/powerpoint/2010/main" val="134801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C64EED4-FAF0-61DD-D6BA-228FEAE964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BB4113-16CC-A889-388F-AC3BCBDCC7F5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351A6D-C3FA-7D70-1DCF-1C01227DB9E7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总体架构：数据源 → </a:t>
            </a:r>
            <a:r>
              <a:rPr lang="en-US" altLang="zh-CN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MapGIS </a:t>
            </a:r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服务 → 前后端联通 → 展示工作台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58F141-0F82-7C45-19E1-77F79B7B6AED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核心目标是让空间数据和表格资料能够统一进入前端展示。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FFE5AD4-C61A-C90C-5451-C0ADDCEBAEB7}"/>
              </a:ext>
            </a:extLst>
          </p:cNvPr>
          <p:cNvSpPr/>
          <p:nvPr/>
        </p:nvSpPr>
        <p:spPr>
          <a:xfrm>
            <a:off x="660400" y="1905000"/>
            <a:ext cx="2286000" cy="1905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9916C3-D3BB-B3C7-664F-65412A3D3301}"/>
              </a:ext>
            </a:extLst>
          </p:cNvPr>
          <p:cNvSpPr txBox="1"/>
          <p:nvPr/>
        </p:nvSpPr>
        <p:spPr>
          <a:xfrm>
            <a:off x="812800" y="20320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数据源层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FA7003-01AC-A07B-A6ED-AE3B4AF526DE}"/>
              </a:ext>
            </a:extLst>
          </p:cNvPr>
          <p:cNvSpPr txBox="1"/>
          <p:nvPr/>
        </p:nvSpPr>
        <p:spPr>
          <a:xfrm>
            <a:off x="812800" y="2336800"/>
            <a:ext cx="1981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Wells.shp / Main_Basins.shp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井表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Excel 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盆地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Excel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样例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well_logs.csv</a:t>
            </a:r>
            <a:endParaRPr lang="zh-CN" altLang="en-US" sz="900">
              <a:solidFill>
                <a:srgbClr val="46587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11E0600-BB2A-9434-4CD8-2B14027525EE}"/>
              </a:ext>
            </a:extLst>
          </p:cNvPr>
          <p:cNvCxnSpPr/>
          <p:nvPr/>
        </p:nvCxnSpPr>
        <p:spPr>
          <a:xfrm>
            <a:off x="3073400" y="2857500"/>
            <a:ext cx="685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C869C4-A8D6-2C1F-2795-0280D7F38C27}"/>
              </a:ext>
            </a:extLst>
          </p:cNvPr>
          <p:cNvSpPr/>
          <p:nvPr/>
        </p:nvSpPr>
        <p:spPr>
          <a:xfrm>
            <a:off x="3886200" y="1905000"/>
            <a:ext cx="2286000" cy="1905000"/>
          </a:xfrm>
          <a:prstGeom prst="roundRect">
            <a:avLst/>
          </a:prstGeom>
          <a:solidFill>
            <a:srgbClr val="E8F7F2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08709E-732B-7A6F-7E5F-8B7FD1AD0ACC}"/>
              </a:ext>
            </a:extLst>
          </p:cNvPr>
          <p:cNvSpPr txBox="1"/>
          <p:nvPr/>
        </p:nvSpPr>
        <p:spPr>
          <a:xfrm>
            <a:off x="4038600" y="20320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GIS </a:t>
            </a:r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服务层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D1C12F-C63E-91E2-A341-925DF2A1631D}"/>
              </a:ext>
            </a:extLst>
          </p:cNvPr>
          <p:cNvSpPr txBox="1"/>
          <p:nvPr/>
        </p:nvSpPr>
        <p:spPr>
          <a:xfrm>
            <a:off x="4038600" y="2336800"/>
            <a:ext cx="1981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MapGIS IGServer</a:t>
            </a:r>
          </a:p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wells FeatureServer</a:t>
            </a:r>
          </a:p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main_basins FeatureServer</a:t>
            </a:r>
            <a:endParaRPr lang="zh-CN" altLang="en-US" sz="900">
              <a:solidFill>
                <a:srgbClr val="46587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BF09272-C89D-4339-6A67-3E4872E30EE9}"/>
              </a:ext>
            </a:extLst>
          </p:cNvPr>
          <p:cNvCxnSpPr/>
          <p:nvPr/>
        </p:nvCxnSpPr>
        <p:spPr>
          <a:xfrm>
            <a:off x="6299200" y="2857500"/>
            <a:ext cx="685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9712B3F-F021-974B-B0B1-BAA58675B17A}"/>
              </a:ext>
            </a:extLst>
          </p:cNvPr>
          <p:cNvSpPr/>
          <p:nvPr/>
        </p:nvSpPr>
        <p:spPr>
          <a:xfrm>
            <a:off x="7112000" y="1905000"/>
            <a:ext cx="2286000" cy="1905000"/>
          </a:xfrm>
          <a:prstGeom prst="roundRect">
            <a:avLst/>
          </a:prstGeom>
          <a:solidFill>
            <a:srgbClr val="FFF7DC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18B67E5-EA91-7E0C-4EBA-16FEB6D74BD4}"/>
              </a:ext>
            </a:extLst>
          </p:cNvPr>
          <p:cNvSpPr txBox="1"/>
          <p:nvPr/>
        </p:nvSpPr>
        <p:spPr>
          <a:xfrm>
            <a:off x="7264400" y="20320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联通层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CFADC28-6A58-FB5B-5A2E-9429100BF61A}"/>
              </a:ext>
            </a:extLst>
          </p:cNvPr>
          <p:cNvSpPr txBox="1"/>
          <p:nvPr/>
        </p:nvSpPr>
        <p:spPr>
          <a:xfrm>
            <a:off x="7264400" y="2336800"/>
            <a:ext cx="1981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Node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静态服务</a:t>
            </a:r>
          </a:p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/igs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代理</a:t>
            </a:r>
          </a:p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JSON/CSV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配置读取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C726A6D-F1B0-3521-8394-82A38D8C5F1F}"/>
              </a:ext>
            </a:extLst>
          </p:cNvPr>
          <p:cNvCxnSpPr/>
          <p:nvPr/>
        </p:nvCxnSpPr>
        <p:spPr>
          <a:xfrm>
            <a:off x="9525000" y="2857500"/>
            <a:ext cx="685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871EC30-0095-6BF9-86B5-2B0E9BE2C23A}"/>
              </a:ext>
            </a:extLst>
          </p:cNvPr>
          <p:cNvSpPr/>
          <p:nvPr/>
        </p:nvSpPr>
        <p:spPr>
          <a:xfrm>
            <a:off x="10337800" y="1905000"/>
            <a:ext cx="1524000" cy="1905000"/>
          </a:xfrm>
          <a:prstGeom prst="roundRect">
            <a:avLst/>
          </a:prstGeom>
          <a:solidFill>
            <a:srgbClr val="F6EF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C988A66-1283-4281-0B3A-95F31A05E051}"/>
              </a:ext>
            </a:extLst>
          </p:cNvPr>
          <p:cNvSpPr txBox="1"/>
          <p:nvPr/>
        </p:nvSpPr>
        <p:spPr>
          <a:xfrm>
            <a:off x="10490200" y="2032000"/>
            <a:ext cx="1219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前端展示层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030D645-4A62-7574-9E9E-AFBB08DF3A18}"/>
              </a:ext>
            </a:extLst>
          </p:cNvPr>
          <p:cNvSpPr txBox="1"/>
          <p:nvPr/>
        </p:nvSpPr>
        <p:spPr>
          <a:xfrm>
            <a:off x="10490200" y="2336800"/>
            <a:ext cx="1219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地图工作台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井资料与曲线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数据目录与服务状态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774B1BB-2F63-E47D-5F57-217E94BAC568}"/>
              </a:ext>
            </a:extLst>
          </p:cNvPr>
          <p:cNvSpPr/>
          <p:nvPr/>
        </p:nvSpPr>
        <p:spPr>
          <a:xfrm>
            <a:off x="1168400" y="4495800"/>
            <a:ext cx="9906000" cy="1041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A5A35B-47E3-7322-D487-C349B6436884}"/>
              </a:ext>
            </a:extLst>
          </p:cNvPr>
          <p:cNvSpPr/>
          <p:nvPr/>
        </p:nvSpPr>
        <p:spPr>
          <a:xfrm>
            <a:off x="1168400" y="4495800"/>
            <a:ext cx="76200" cy="1041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C88D48-0984-4700-392E-790E463D592F}"/>
              </a:ext>
            </a:extLst>
          </p:cNvPr>
          <p:cNvSpPr txBox="1"/>
          <p:nvPr/>
        </p:nvSpPr>
        <p:spPr>
          <a:xfrm>
            <a:off x="1397000" y="4699000"/>
            <a:ext cx="952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设计要点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44CDBEE-1237-B6AA-EACB-F7912B95185E}"/>
              </a:ext>
            </a:extLst>
          </p:cNvPr>
          <p:cNvSpPr txBox="1"/>
          <p:nvPr/>
        </p:nvSpPr>
        <p:spPr>
          <a:xfrm>
            <a:off x="1397000" y="5080000"/>
            <a:ext cx="952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服务优先、本地回退；空间对象和表格资料分层管理；前端以筛选、定位、详情联动作为主要交互。</a:t>
            </a:r>
          </a:p>
        </p:txBody>
      </p:sp>
    </p:spTree>
    <p:extLst>
      <p:ext uri="{BB962C8B-B14F-4D97-AF65-F5344CB8AC3E}">
        <p14:creationId xmlns:p14="http://schemas.microsoft.com/office/powerpoint/2010/main" val="1856137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10B60FC-1D68-E6F8-51CA-834CB32E6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525F57-3906-7561-7E2E-F012E16F6C26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B0051A-5AD4-EF3C-87D5-176A7D4D1589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数据链路：</a:t>
            </a:r>
            <a:r>
              <a:rPr lang="en-US" altLang="zh-CN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Shapefile </a:t>
            </a:r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的组合使用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791EA8-D30B-096B-E8A0-066AFE2A15C6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空间边界由 </a:t>
            </a:r>
            <a:r>
              <a:rPr lang="en-US" altLang="zh-CN" sz="1100">
                <a:solidFill>
                  <a:srgbClr val="5B6F89"/>
                </a:solidFill>
                <a:latin typeface="Microsoft YaHei" panose="020B0503020204020204" pitchFamily="34" charset="-122"/>
              </a:rPr>
              <a:t>MapGIS </a:t>
            </a:r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服务提供，专题属性由 </a:t>
            </a:r>
            <a:r>
              <a:rPr lang="en-US" altLang="zh-CN" sz="1100">
                <a:solidFill>
                  <a:srgbClr val="5B6F89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整理结果补充。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8E81B7-21AA-3276-0054-D685DA292A34}"/>
              </a:ext>
            </a:extLst>
          </p:cNvPr>
          <p:cNvSpPr/>
          <p:nvPr/>
        </p:nvSpPr>
        <p:spPr>
          <a:xfrm>
            <a:off x="787400" y="1651000"/>
            <a:ext cx="3302000" cy="2032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D7C7C4-3585-403C-E728-5AF0CDC1B822}"/>
              </a:ext>
            </a:extLst>
          </p:cNvPr>
          <p:cNvSpPr/>
          <p:nvPr/>
        </p:nvSpPr>
        <p:spPr>
          <a:xfrm>
            <a:off x="787400" y="1651000"/>
            <a:ext cx="76200" cy="2032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342AB7-CD75-74DC-60A6-FDFF9F243AA9}"/>
              </a:ext>
            </a:extLst>
          </p:cNvPr>
          <p:cNvSpPr txBox="1"/>
          <p:nvPr/>
        </p:nvSpPr>
        <p:spPr>
          <a:xfrm>
            <a:off x="1016000" y="1854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空间数据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44A78B-BD26-AB24-D035-AE30146DFDFD}"/>
              </a:ext>
            </a:extLst>
          </p:cNvPr>
          <p:cNvSpPr txBox="1"/>
          <p:nvPr/>
        </p:nvSpPr>
        <p:spPr>
          <a:xfrm>
            <a:off x="1016000" y="2235200"/>
            <a:ext cx="2921000" cy="56425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井位：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Wells.shp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，点要素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Main_Basins.shp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，面要素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发布：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IGServer FeatureServer</a:t>
            </a: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45801E7-0201-9474-9CB8-A13BE266923D}"/>
              </a:ext>
            </a:extLst>
          </p:cNvPr>
          <p:cNvSpPr/>
          <p:nvPr/>
        </p:nvSpPr>
        <p:spPr>
          <a:xfrm>
            <a:off x="4445000" y="1651000"/>
            <a:ext cx="3302000" cy="2032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2478D2-5144-27DA-0295-284A86554EDC}"/>
              </a:ext>
            </a:extLst>
          </p:cNvPr>
          <p:cNvSpPr/>
          <p:nvPr/>
        </p:nvSpPr>
        <p:spPr>
          <a:xfrm>
            <a:off x="4445000" y="1651000"/>
            <a:ext cx="76200" cy="2032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B59854-43E6-D1E1-7CF6-8644008C474A}"/>
              </a:ext>
            </a:extLst>
          </p:cNvPr>
          <p:cNvSpPr txBox="1"/>
          <p:nvPr/>
        </p:nvSpPr>
        <p:spPr>
          <a:xfrm>
            <a:off x="4673600" y="1854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井专题表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71E4DF-03D0-244D-1A3E-F03EC38293A4}"/>
              </a:ext>
            </a:extLst>
          </p:cNvPr>
          <p:cNvSpPr txBox="1"/>
          <p:nvPr/>
        </p:nvSpPr>
        <p:spPr>
          <a:xfrm>
            <a:off x="4673600" y="2235200"/>
            <a:ext cx="2921000" cy="7181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表数量：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21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个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数据行：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663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行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包括：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Basic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General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History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Tests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Tops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Deviation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Checkshot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Costs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2EAAECC-A747-1F6C-7C5D-F41F1770765C}"/>
              </a:ext>
            </a:extLst>
          </p:cNvPr>
          <p:cNvSpPr/>
          <p:nvPr/>
        </p:nvSpPr>
        <p:spPr>
          <a:xfrm>
            <a:off x="8102600" y="1651000"/>
            <a:ext cx="3302000" cy="2032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942C78-37F7-F935-E02B-557D1EF7E3A3}"/>
              </a:ext>
            </a:extLst>
          </p:cNvPr>
          <p:cNvSpPr/>
          <p:nvPr/>
        </p:nvSpPr>
        <p:spPr>
          <a:xfrm>
            <a:off x="8102600" y="1651000"/>
            <a:ext cx="76200" cy="2032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9B21E5-AE0B-D576-C830-D3CBB9FC1220}"/>
              </a:ext>
            </a:extLst>
          </p:cNvPr>
          <p:cNvSpPr txBox="1"/>
          <p:nvPr/>
        </p:nvSpPr>
        <p:spPr>
          <a:xfrm>
            <a:off x="8331200" y="1854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盆地专题表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13437B-5881-636C-65E2-4B3D0058E128}"/>
              </a:ext>
            </a:extLst>
          </p:cNvPr>
          <p:cNvSpPr txBox="1"/>
          <p:nvPr/>
        </p:nvSpPr>
        <p:spPr>
          <a:xfrm>
            <a:off x="8331200" y="2235200"/>
            <a:ext cx="2921000" cy="7181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表数量：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11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个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数据行：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2457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行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包括：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Basic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General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Images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Reserves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Petroleum System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Play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Lithostratigraphic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7A7C4FA-DDFC-588F-EB16-225CAA647128}"/>
              </a:ext>
            </a:extLst>
          </p:cNvPr>
          <p:cNvSpPr/>
          <p:nvPr/>
        </p:nvSpPr>
        <p:spPr>
          <a:xfrm>
            <a:off x="1168400" y="4368800"/>
            <a:ext cx="9906000" cy="114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2E35B4-B0F8-43A9-E5EE-C68C984D9100}"/>
              </a:ext>
            </a:extLst>
          </p:cNvPr>
          <p:cNvSpPr/>
          <p:nvPr/>
        </p:nvSpPr>
        <p:spPr>
          <a:xfrm>
            <a:off x="1168400" y="4368800"/>
            <a:ext cx="76200" cy="11430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ED8CF8-F24E-A6E7-DC9F-0377C42209F9}"/>
              </a:ext>
            </a:extLst>
          </p:cNvPr>
          <p:cNvSpPr txBox="1"/>
          <p:nvPr/>
        </p:nvSpPr>
        <p:spPr>
          <a:xfrm>
            <a:off x="1397000" y="4572000"/>
            <a:ext cx="952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当前处理策略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05D072-2030-F337-E79B-74732BA01E31}"/>
              </a:ext>
            </a:extLst>
          </p:cNvPr>
          <p:cNvSpPr txBox="1"/>
          <p:nvPr/>
        </p:nvSpPr>
        <p:spPr>
          <a:xfrm>
            <a:off x="1397000" y="4953000"/>
            <a:ext cx="952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前端优先读取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服务中的几何与核心字段；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整理为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后用于井档案、井史、井测试、地层与盆地专题资料展示。</a:t>
            </a:r>
          </a:p>
        </p:txBody>
      </p:sp>
    </p:spTree>
    <p:extLst>
      <p:ext uri="{BB962C8B-B14F-4D97-AF65-F5344CB8AC3E}">
        <p14:creationId xmlns:p14="http://schemas.microsoft.com/office/powerpoint/2010/main" val="423235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A9CC20B-851E-993F-C795-CEB8418E84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6C4078-6601-C77E-B644-4C90E973E3BB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37263E-594A-4D20-805E-6AC73A1B2D48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技术实现路径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4E6D75-2B88-CBA3-0D96-CBEC2E2EA05E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当前采用轻量化 </a:t>
            </a:r>
            <a:r>
              <a:rPr lang="en-US" altLang="zh-CN" sz="1100">
                <a:solidFill>
                  <a:srgbClr val="5B6F89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方案，重点验证数据链路与业务展示闭环。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A64789-0789-3DC3-F900-2C7AF91C4D13}"/>
              </a:ext>
            </a:extLst>
          </p:cNvPr>
          <p:cNvSpPr/>
          <p:nvPr/>
        </p:nvSpPr>
        <p:spPr>
          <a:xfrm>
            <a:off x="787400" y="1600200"/>
            <a:ext cx="3175000" cy="241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91A5EA-E9C9-D5FE-0CAC-79C037F6325F}"/>
              </a:ext>
            </a:extLst>
          </p:cNvPr>
          <p:cNvSpPr/>
          <p:nvPr/>
        </p:nvSpPr>
        <p:spPr>
          <a:xfrm>
            <a:off x="787400" y="1600200"/>
            <a:ext cx="76200" cy="2413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399C56-8F48-A733-C687-07B5F231770D}"/>
              </a:ext>
            </a:extLst>
          </p:cNvPr>
          <p:cNvSpPr txBox="1"/>
          <p:nvPr/>
        </p:nvSpPr>
        <p:spPr>
          <a:xfrm>
            <a:off x="1016000" y="18034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前端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358CCC-AAE1-C897-4862-6C56B6082041}"/>
              </a:ext>
            </a:extLst>
          </p:cNvPr>
          <p:cNvSpPr txBox="1"/>
          <p:nvPr/>
        </p:nvSpPr>
        <p:spPr>
          <a:xfrm>
            <a:off x="1016000" y="2184400"/>
            <a:ext cx="2794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HTML / CSS / JavaScript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Leaflet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@mapgis/webclient-leaflet-plugin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天地图底图叠加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D192778-3FE6-599F-0C76-12FC5E6BF51D}"/>
              </a:ext>
            </a:extLst>
          </p:cNvPr>
          <p:cNvSpPr/>
          <p:nvPr/>
        </p:nvSpPr>
        <p:spPr>
          <a:xfrm>
            <a:off x="4495800" y="1600200"/>
            <a:ext cx="3175000" cy="241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60D9B1-8049-F3F8-3136-3F96A67700AC}"/>
              </a:ext>
            </a:extLst>
          </p:cNvPr>
          <p:cNvSpPr/>
          <p:nvPr/>
        </p:nvSpPr>
        <p:spPr>
          <a:xfrm>
            <a:off x="4495800" y="1600200"/>
            <a:ext cx="76200" cy="2413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6E421F-6E69-2AA3-3E6B-7603DC065846}"/>
              </a:ext>
            </a:extLst>
          </p:cNvPr>
          <p:cNvSpPr txBox="1"/>
          <p:nvPr/>
        </p:nvSpPr>
        <p:spPr>
          <a:xfrm>
            <a:off x="4724400" y="18034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服务代理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F8E1F1-A55F-07D3-0140-BDD638F19C8A}"/>
              </a:ext>
            </a:extLst>
          </p:cNvPr>
          <p:cNvSpPr txBox="1"/>
          <p:nvPr/>
        </p:nvSpPr>
        <p:spPr>
          <a:xfrm>
            <a:off x="4724400" y="2184400"/>
            <a:ext cx="2794000" cy="56425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Node.js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静态服务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/igs/*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代理到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localhost:8089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避免浏览器跨域和路径配置混乱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D207DA6-9274-F7F2-3E6C-7E2D4450699D}"/>
              </a:ext>
            </a:extLst>
          </p:cNvPr>
          <p:cNvSpPr/>
          <p:nvPr/>
        </p:nvSpPr>
        <p:spPr>
          <a:xfrm>
            <a:off x="8204200" y="1600200"/>
            <a:ext cx="3175000" cy="241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6BFCA5-1211-0A85-D1EB-A18BDEEEACFA}"/>
              </a:ext>
            </a:extLst>
          </p:cNvPr>
          <p:cNvSpPr/>
          <p:nvPr/>
        </p:nvSpPr>
        <p:spPr>
          <a:xfrm>
            <a:off x="8204200" y="1600200"/>
            <a:ext cx="76200" cy="2413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1DA3B8-5168-0835-207B-9876E3E3D52D}"/>
              </a:ext>
            </a:extLst>
          </p:cNvPr>
          <p:cNvSpPr txBox="1"/>
          <p:nvPr/>
        </p:nvSpPr>
        <p:spPr>
          <a:xfrm>
            <a:off x="8432800" y="18034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MapGIS</a:t>
            </a:r>
            <a:endParaRPr lang="zh-CN" altLang="en-US" sz="1500" b="1">
              <a:solidFill>
                <a:srgbClr val="142F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4AEEA57-417D-CC72-4283-9E8357227667}"/>
              </a:ext>
            </a:extLst>
          </p:cNvPr>
          <p:cNvSpPr txBox="1"/>
          <p:nvPr/>
        </p:nvSpPr>
        <p:spPr>
          <a:xfrm>
            <a:off x="8432800" y="2184400"/>
            <a:ext cx="2794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IGServer Java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FeatureServer/query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坐标系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EPSG:3857 →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前端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EPSG:4326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服务不可用时回退本地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GeoJSON</a:t>
            </a: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2D28A1-72AB-A986-18B6-2383611EFFCC}"/>
              </a:ext>
            </a:extLst>
          </p:cNvPr>
          <p:cNvSpPr txBox="1"/>
          <p:nvPr/>
        </p:nvSpPr>
        <p:spPr>
          <a:xfrm>
            <a:off x="1117600" y="4648200"/>
            <a:ext cx="9906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当前系统更适合做数据链路验证和功能原型扩展。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后续工程化时可迁移到 </a:t>
            </a: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Vue/React +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数据库 </a:t>
            </a: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权限体系。</a:t>
            </a:r>
          </a:p>
        </p:txBody>
      </p:sp>
    </p:spTree>
    <p:extLst>
      <p:ext uri="{BB962C8B-B14F-4D97-AF65-F5344CB8AC3E}">
        <p14:creationId xmlns:p14="http://schemas.microsoft.com/office/powerpoint/2010/main" val="1293354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5E00C5-8321-4B82-2A92-7EA98A89E8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2761BF-28A6-1B10-F7E5-CE760A9CD527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B3DF28-4002-BBF5-0CD7-A15BD35D557E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功能展示一：地图工作台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DA70CF-2C42-30B9-D28A-4C953A45E86C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左侧筛选，中间地图，右侧对象详情，形成可操作的 </a:t>
            </a:r>
            <a:r>
              <a:rPr lang="en-US" altLang="zh-CN" sz="1100">
                <a:solidFill>
                  <a:srgbClr val="5B6F89"/>
                </a:solidFill>
                <a:latin typeface="Microsoft YaHei" panose="020B0503020204020204" pitchFamily="34" charset="-122"/>
              </a:rPr>
              <a:t>GIS </a:t>
            </a:r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数据工作台。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978AC7F-2641-24D5-2D17-138E12167500}"/>
              </a:ext>
            </a:extLst>
          </p:cNvPr>
          <p:cNvSpPr/>
          <p:nvPr/>
        </p:nvSpPr>
        <p:spPr>
          <a:xfrm>
            <a:off x="762000" y="1803400"/>
            <a:ext cx="2286000" cy="2413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D14105-D65A-7F8D-DDD0-9302FA774681}"/>
              </a:ext>
            </a:extLst>
          </p:cNvPr>
          <p:cNvSpPr txBox="1"/>
          <p:nvPr/>
        </p:nvSpPr>
        <p:spPr>
          <a:xfrm>
            <a:off x="914400" y="19304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左侧筛选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6644E4-DD5F-A24F-DFA1-B91750C9F9F6}"/>
              </a:ext>
            </a:extLst>
          </p:cNvPr>
          <p:cNvSpPr txBox="1"/>
          <p:nvPr/>
        </p:nvSpPr>
        <p:spPr>
          <a:xfrm>
            <a:off x="914400" y="2235200"/>
            <a:ext cx="19812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关键字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国家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盆地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作业者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快速定位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942E405-2CEA-40F5-259F-E25C5A80A6E7}"/>
              </a:ext>
            </a:extLst>
          </p:cNvPr>
          <p:cNvSpPr/>
          <p:nvPr/>
        </p:nvSpPr>
        <p:spPr>
          <a:xfrm>
            <a:off x="3556000" y="1498600"/>
            <a:ext cx="4572000" cy="3022600"/>
          </a:xfrm>
          <a:prstGeom prst="roundRect">
            <a:avLst/>
          </a:prstGeom>
          <a:solidFill>
            <a:srgbClr val="E8F7F2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87737F-9C49-DF3F-41DD-8960A8DBDE69}"/>
              </a:ext>
            </a:extLst>
          </p:cNvPr>
          <p:cNvSpPr txBox="1"/>
          <p:nvPr/>
        </p:nvSpPr>
        <p:spPr>
          <a:xfrm>
            <a:off x="3708400" y="1625600"/>
            <a:ext cx="4267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中间地图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9E1068-0D7A-DBFE-734F-3BD2DD21BB94}"/>
              </a:ext>
            </a:extLst>
          </p:cNvPr>
          <p:cNvSpPr txBox="1"/>
          <p:nvPr/>
        </p:nvSpPr>
        <p:spPr>
          <a:xfrm>
            <a:off x="3708400" y="1930400"/>
            <a:ext cx="4267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天地图底图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盆地面图层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井位点图层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弹窗与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tooltip</a:t>
            </a:r>
            <a:endParaRPr lang="zh-CN" altLang="en-US" sz="900">
              <a:solidFill>
                <a:srgbClr val="4658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B81D5A9-486F-F53D-D214-96CCE80EE6CD}"/>
              </a:ext>
            </a:extLst>
          </p:cNvPr>
          <p:cNvSpPr/>
          <p:nvPr/>
        </p:nvSpPr>
        <p:spPr>
          <a:xfrm>
            <a:off x="8636000" y="1803400"/>
            <a:ext cx="2794000" cy="2413000"/>
          </a:xfrm>
          <a:prstGeom prst="roundRect">
            <a:avLst/>
          </a:prstGeom>
          <a:solidFill>
            <a:srgbClr val="FFF7DC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758EC5-1AA8-73EE-5E38-A4FFA2A7BC84}"/>
              </a:ext>
            </a:extLst>
          </p:cNvPr>
          <p:cNvSpPr txBox="1"/>
          <p:nvPr/>
        </p:nvSpPr>
        <p:spPr>
          <a:xfrm>
            <a:off x="8788400" y="1930400"/>
            <a:ext cx="2489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右侧详情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20CCE1-B879-53F2-81B4-8B3443C657D6}"/>
              </a:ext>
            </a:extLst>
          </p:cNvPr>
          <p:cNvSpPr txBox="1"/>
          <p:nvPr/>
        </p:nvSpPr>
        <p:spPr>
          <a:xfrm>
            <a:off x="8788400" y="2235200"/>
            <a:ext cx="248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服务状态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当前选中对象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真实服务数据摘要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工作建议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56FF4F5-8A68-88B5-5FD7-F03CA2626DB4}"/>
              </a:ext>
            </a:extLst>
          </p:cNvPr>
          <p:cNvSpPr/>
          <p:nvPr/>
        </p:nvSpPr>
        <p:spPr>
          <a:xfrm>
            <a:off x="1270000" y="4953000"/>
            <a:ext cx="9652000" cy="88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854230-3670-B3E3-069C-1C98F8A22CF9}"/>
              </a:ext>
            </a:extLst>
          </p:cNvPr>
          <p:cNvSpPr/>
          <p:nvPr/>
        </p:nvSpPr>
        <p:spPr>
          <a:xfrm>
            <a:off x="1270000" y="4953000"/>
            <a:ext cx="76200" cy="889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EBB741-E72F-B281-D4ED-A322FA537DA3}"/>
              </a:ext>
            </a:extLst>
          </p:cNvPr>
          <p:cNvSpPr txBox="1"/>
          <p:nvPr/>
        </p:nvSpPr>
        <p:spPr>
          <a:xfrm>
            <a:off x="1498600" y="5156200"/>
            <a:ext cx="927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展示价值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21F2A2-9006-E951-3080-91E95A881B2A}"/>
              </a:ext>
            </a:extLst>
          </p:cNvPr>
          <p:cNvSpPr txBox="1"/>
          <p:nvPr/>
        </p:nvSpPr>
        <p:spPr>
          <a:xfrm>
            <a:off x="1498600" y="5537200"/>
            <a:ext cx="927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用户可以从地图上直接看到真实盆地形状和真实井位，并通过筛选与点击联动查看井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盆地属性。</a:t>
            </a:r>
          </a:p>
        </p:txBody>
      </p:sp>
    </p:spTree>
    <p:extLst>
      <p:ext uri="{BB962C8B-B14F-4D97-AF65-F5344CB8AC3E}">
        <p14:creationId xmlns:p14="http://schemas.microsoft.com/office/powerpoint/2010/main" val="304346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0F4C97-37BE-A9B5-7136-199512174D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28E7B6-BE81-7906-637E-CE0724D1520D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668913-D5A5-6BF7-77DD-7300349D1808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功能展示二：井资料与曲线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BCD990-E3DD-14E4-B2F0-1BE9309811F7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把井基础资料、井史事件、专题资料和测井曲线集中在一个工作区。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E588FD4-6EE3-7BD3-708A-CB2D7AF55C18}"/>
              </a:ext>
            </a:extLst>
          </p:cNvPr>
          <p:cNvSpPr/>
          <p:nvPr/>
        </p:nvSpPr>
        <p:spPr>
          <a:xfrm>
            <a:off x="711200" y="1600200"/>
            <a:ext cx="3302000" cy="215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27819B-ACA3-00AF-62AF-7F9A1EEA272E}"/>
              </a:ext>
            </a:extLst>
          </p:cNvPr>
          <p:cNvSpPr/>
          <p:nvPr/>
        </p:nvSpPr>
        <p:spPr>
          <a:xfrm>
            <a:off x="711200" y="1600200"/>
            <a:ext cx="76200" cy="2159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2C1C7C-BF6A-E971-1B1C-5F605B7541C0}"/>
              </a:ext>
            </a:extLst>
          </p:cNvPr>
          <p:cNvSpPr txBox="1"/>
          <p:nvPr/>
        </p:nvSpPr>
        <p:spPr>
          <a:xfrm>
            <a:off x="939800" y="1803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井档案摘要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09FC52-9301-C893-6CF9-43EA48EDFBBD}"/>
              </a:ext>
            </a:extLst>
          </p:cNvPr>
          <p:cNvSpPr txBox="1"/>
          <p:nvPr/>
        </p:nvSpPr>
        <p:spPr>
          <a:xfrm>
            <a:off x="939800" y="2184400"/>
            <a:ext cx="2921000" cy="51296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已整理井对象：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15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口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字段：井号、盆地、作业者、井型、技术状态、总井深、垂深、位置等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326A9F-2F2D-5E24-A0D1-208D99F222A3}"/>
              </a:ext>
            </a:extLst>
          </p:cNvPr>
          <p:cNvSpPr/>
          <p:nvPr/>
        </p:nvSpPr>
        <p:spPr>
          <a:xfrm>
            <a:off x="4445000" y="1600200"/>
            <a:ext cx="3302000" cy="215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610D93-40CC-D972-FA7A-900339066EBE}"/>
              </a:ext>
            </a:extLst>
          </p:cNvPr>
          <p:cNvSpPr/>
          <p:nvPr/>
        </p:nvSpPr>
        <p:spPr>
          <a:xfrm>
            <a:off x="4445000" y="1600200"/>
            <a:ext cx="76200" cy="2159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EAF898-E0E1-550A-4E36-C83B900B6FB7}"/>
              </a:ext>
            </a:extLst>
          </p:cNvPr>
          <p:cNvSpPr txBox="1"/>
          <p:nvPr/>
        </p:nvSpPr>
        <p:spPr>
          <a:xfrm>
            <a:off x="4673600" y="1803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井专题资料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09626B-D6EE-8E74-53E8-94287B8C175F}"/>
              </a:ext>
            </a:extLst>
          </p:cNvPr>
          <p:cNvSpPr txBox="1"/>
          <p:nvPr/>
        </p:nvSpPr>
        <p:spPr>
          <a:xfrm>
            <a:off x="4673600" y="21844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井史事件、作业期次、井测试、分层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Tops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、地层导出、井斜测量、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Checkshot/VSP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、成本等。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59A2F99-A20A-B292-83DA-2E87D94579D3}"/>
              </a:ext>
            </a:extLst>
          </p:cNvPr>
          <p:cNvSpPr/>
          <p:nvPr/>
        </p:nvSpPr>
        <p:spPr>
          <a:xfrm>
            <a:off x="8178800" y="1600200"/>
            <a:ext cx="3302000" cy="215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DB58D7-2949-CB76-F9A2-B00E27348367}"/>
              </a:ext>
            </a:extLst>
          </p:cNvPr>
          <p:cNvSpPr/>
          <p:nvPr/>
        </p:nvSpPr>
        <p:spPr>
          <a:xfrm>
            <a:off x="8178800" y="1600200"/>
            <a:ext cx="76200" cy="2159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FFB59F-9316-6AAE-C9BD-84588D0F5C66}"/>
              </a:ext>
            </a:extLst>
          </p:cNvPr>
          <p:cNvSpPr txBox="1"/>
          <p:nvPr/>
        </p:nvSpPr>
        <p:spPr>
          <a:xfrm>
            <a:off x="8407400" y="1803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测井曲线区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A15C81-86DE-B683-C9B3-79511FD448F5}"/>
              </a:ext>
            </a:extLst>
          </p:cNvPr>
          <p:cNvSpPr txBox="1"/>
          <p:nvPr/>
        </p:nvSpPr>
        <p:spPr>
          <a:xfrm>
            <a:off x="8407400" y="2184400"/>
            <a:ext cx="2921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当前保留样例曲线展示，包括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GR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RT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RHOB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等曲线道；真实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LAS/DLIS/LIS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到位后可替换为真实曲线。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B4380C-1396-3452-3360-9963159D27A5}"/>
              </a:ext>
            </a:extLst>
          </p:cNvPr>
          <p:cNvSpPr txBox="1"/>
          <p:nvPr/>
        </p:nvSpPr>
        <p:spPr>
          <a:xfrm>
            <a:off x="965200" y="4470400"/>
            <a:ext cx="10160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目前井深字段已从 </a:t>
            </a: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Td Meter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正确进入井档案展示。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曲线展示能力已预留，但真实曲线文件仍是后续重点。</a:t>
            </a:r>
          </a:p>
        </p:txBody>
      </p:sp>
    </p:spTree>
    <p:extLst>
      <p:ext uri="{BB962C8B-B14F-4D97-AF65-F5344CB8AC3E}">
        <p14:creationId xmlns:p14="http://schemas.microsoft.com/office/powerpoint/2010/main" val="93884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66E3C2-5E0B-5D9A-1AED-BDC1C91EFC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43BAFA-CF9C-D4B3-AA65-C859FB8C3AD4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72EB11-E4F0-3B20-3F58-20C8BFA4A046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功能展示三：数据目录与服务状态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BAC6A0-1C06-11A6-0629-D4133AAC2C23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用于核对系统到底加载了哪些数据、哪些服务、哪些表可继续扩展。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C92CF2-4AE1-27A1-61F5-66C7EA3B636B}"/>
              </a:ext>
            </a:extLst>
          </p:cNvPr>
          <p:cNvSpPr/>
          <p:nvPr/>
        </p:nvSpPr>
        <p:spPr>
          <a:xfrm>
            <a:off x="787400" y="1651000"/>
            <a:ext cx="3175000" cy="2286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357B48-EFD8-E6BC-D1AD-8356142FC1C5}"/>
              </a:ext>
            </a:extLst>
          </p:cNvPr>
          <p:cNvSpPr/>
          <p:nvPr/>
        </p:nvSpPr>
        <p:spPr>
          <a:xfrm>
            <a:off x="787400" y="1651000"/>
            <a:ext cx="76200" cy="2286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3F6EE6-4F86-A6B4-41AC-6C7F0BE95C9F}"/>
              </a:ext>
            </a:extLst>
          </p:cNvPr>
          <p:cNvSpPr txBox="1"/>
          <p:nvPr/>
        </p:nvSpPr>
        <p:spPr>
          <a:xfrm>
            <a:off x="1016000" y="18542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数据目录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DA0C88-A23B-0421-2120-F44D8AEF09C0}"/>
              </a:ext>
            </a:extLst>
          </p:cNvPr>
          <p:cNvSpPr txBox="1"/>
          <p:nvPr/>
        </p:nvSpPr>
        <p:spPr>
          <a:xfrm>
            <a:off x="1016000" y="2235200"/>
            <a:ext cx="2794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盆地名录、井位名录、井资料覆盖摘要、当前盆地专题资料、数据扩展建议。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D1541D5-0D5F-B530-D4DE-30B97274FD41}"/>
              </a:ext>
            </a:extLst>
          </p:cNvPr>
          <p:cNvSpPr/>
          <p:nvPr/>
        </p:nvSpPr>
        <p:spPr>
          <a:xfrm>
            <a:off x="4495800" y="1651000"/>
            <a:ext cx="3175000" cy="2286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C5B081-4B09-CDD6-F21D-9B60D860CFC2}"/>
              </a:ext>
            </a:extLst>
          </p:cNvPr>
          <p:cNvSpPr/>
          <p:nvPr/>
        </p:nvSpPr>
        <p:spPr>
          <a:xfrm>
            <a:off x="4495800" y="1651000"/>
            <a:ext cx="76200" cy="2286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7F0CC2-81DF-A873-9B93-CD31C61765B0}"/>
              </a:ext>
            </a:extLst>
          </p:cNvPr>
          <p:cNvSpPr txBox="1"/>
          <p:nvPr/>
        </p:nvSpPr>
        <p:spPr>
          <a:xfrm>
            <a:off x="4724400" y="18542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服务状态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960B77-4FD6-3538-605B-D0BE2338B85A}"/>
              </a:ext>
            </a:extLst>
          </p:cNvPr>
          <p:cNvSpPr txBox="1"/>
          <p:nvPr/>
        </p:nvSpPr>
        <p:spPr>
          <a:xfrm>
            <a:off x="4724400" y="2235200"/>
            <a:ext cx="2794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REST API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FeatureServer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接口、图层目录、本地回退数据与数据治理待办。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0FDE809-DEF9-7101-6278-5CC64E594419}"/>
              </a:ext>
            </a:extLst>
          </p:cNvPr>
          <p:cNvSpPr/>
          <p:nvPr/>
        </p:nvSpPr>
        <p:spPr>
          <a:xfrm>
            <a:off x="8204200" y="1651000"/>
            <a:ext cx="3175000" cy="2286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99B513-7ABE-F605-A84C-F5EFAD8F8881}"/>
              </a:ext>
            </a:extLst>
          </p:cNvPr>
          <p:cNvSpPr/>
          <p:nvPr/>
        </p:nvSpPr>
        <p:spPr>
          <a:xfrm>
            <a:off x="8204200" y="1651000"/>
            <a:ext cx="76200" cy="2286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D8F269-0A04-F5B5-8EED-CE77D3D0AC58}"/>
              </a:ext>
            </a:extLst>
          </p:cNvPr>
          <p:cNvSpPr txBox="1"/>
          <p:nvPr/>
        </p:nvSpPr>
        <p:spPr>
          <a:xfrm>
            <a:off x="8432800" y="18542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运行状态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88AC7-EB85-07BD-612D-EEC3EBE4D830}"/>
              </a:ext>
            </a:extLst>
          </p:cNvPr>
          <p:cNvSpPr txBox="1"/>
          <p:nvPr/>
        </p:nvSpPr>
        <p:spPr>
          <a:xfrm>
            <a:off x="8432800" y="2235200"/>
            <a:ext cx="2794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前端会提示当前是否连接真实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服务；服务不可用时回退到本地演示数据，便于排查。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E629DF7-E74F-3E78-1864-D633F5BE9BC0}"/>
              </a:ext>
            </a:extLst>
          </p:cNvPr>
          <p:cNvSpPr/>
          <p:nvPr/>
        </p:nvSpPr>
        <p:spPr>
          <a:xfrm>
            <a:off x="1270000" y="4699000"/>
            <a:ext cx="9652000" cy="88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64C91CC-5CCC-C02A-AC48-90C1CCEAD6C5}"/>
              </a:ext>
            </a:extLst>
          </p:cNvPr>
          <p:cNvSpPr/>
          <p:nvPr/>
        </p:nvSpPr>
        <p:spPr>
          <a:xfrm>
            <a:off x="1270000" y="4699000"/>
            <a:ext cx="76200" cy="8890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748C7B-C3FB-493A-4516-03A0F13D99E0}"/>
              </a:ext>
            </a:extLst>
          </p:cNvPr>
          <p:cNvSpPr txBox="1"/>
          <p:nvPr/>
        </p:nvSpPr>
        <p:spPr>
          <a:xfrm>
            <a:off x="1498600" y="4902200"/>
            <a:ext cx="927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管理价值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755789-5139-E12E-4876-BD593CC53B42}"/>
              </a:ext>
            </a:extLst>
          </p:cNvPr>
          <p:cNvSpPr txBox="1"/>
          <p:nvPr/>
        </p:nvSpPr>
        <p:spPr>
          <a:xfrm>
            <a:off x="1498600" y="5283200"/>
            <a:ext cx="927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这部分不是单纯展示，而是帮助后续开发和数据核对：知道数据从哪里来、哪些已经展示、哪些仍需补齐。</a:t>
            </a:r>
          </a:p>
        </p:txBody>
      </p:sp>
    </p:spTree>
    <p:extLst>
      <p:ext uri="{BB962C8B-B14F-4D97-AF65-F5344CB8AC3E}">
        <p14:creationId xmlns:p14="http://schemas.microsoft.com/office/powerpoint/2010/main" val="966452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52A747-C9DD-D819-0940-4C0D7D2C41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D77D9F-7E94-E214-EF2A-7D47CE127104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592C7B-EC42-58EC-19FE-0F00E589C816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当前成果与边界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0BDA64-0E00-EE35-977D-358DF4396566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系统已经完成初步闭环，但还不是最终生产系统。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429949-E493-B1DD-5A3E-1A6D5A6E0A30}"/>
              </a:ext>
            </a:extLst>
          </p:cNvPr>
          <p:cNvSpPr/>
          <p:nvPr/>
        </p:nvSpPr>
        <p:spPr>
          <a:xfrm>
            <a:off x="787400" y="1625600"/>
            <a:ext cx="4953000" cy="3048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10FE92-6141-9E80-A358-4313A4E32D99}"/>
              </a:ext>
            </a:extLst>
          </p:cNvPr>
          <p:cNvSpPr/>
          <p:nvPr/>
        </p:nvSpPr>
        <p:spPr>
          <a:xfrm>
            <a:off x="787400" y="1625600"/>
            <a:ext cx="76200" cy="3048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4D8F57-0214-B8E2-8A51-C54FF2C03328}"/>
              </a:ext>
            </a:extLst>
          </p:cNvPr>
          <p:cNvSpPr txBox="1"/>
          <p:nvPr/>
        </p:nvSpPr>
        <p:spPr>
          <a:xfrm>
            <a:off x="1016000" y="1828800"/>
            <a:ext cx="457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已经完成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981679-9C7C-4F0C-3102-50B2776C386B}"/>
              </a:ext>
            </a:extLst>
          </p:cNvPr>
          <p:cNvSpPr txBox="1"/>
          <p:nvPr/>
        </p:nvSpPr>
        <p:spPr>
          <a:xfrm>
            <a:off x="1016000" y="2209800"/>
            <a:ext cx="4572000" cy="97462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1. MapGIS IGServer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服务接入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真实井位与盆地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shp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发布展示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3. Excel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井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盆地专题表整理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地图筛选、定位、弹窗与详情联动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样例测井曲线展示保留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39298AE-8C3A-AAB4-B887-2C7E158B8193}"/>
              </a:ext>
            </a:extLst>
          </p:cNvPr>
          <p:cNvSpPr/>
          <p:nvPr/>
        </p:nvSpPr>
        <p:spPr>
          <a:xfrm>
            <a:off x="6451600" y="1625600"/>
            <a:ext cx="4953000" cy="3048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9DCC6E-8223-185D-C2F6-24F40D185FED}"/>
              </a:ext>
            </a:extLst>
          </p:cNvPr>
          <p:cNvSpPr/>
          <p:nvPr/>
        </p:nvSpPr>
        <p:spPr>
          <a:xfrm>
            <a:off x="6451600" y="1625600"/>
            <a:ext cx="76200" cy="3048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002F6E-09E7-8170-466E-E8AF6D9E2D8B}"/>
              </a:ext>
            </a:extLst>
          </p:cNvPr>
          <p:cNvSpPr txBox="1"/>
          <p:nvPr/>
        </p:nvSpPr>
        <p:spPr>
          <a:xfrm>
            <a:off x="6680200" y="1828800"/>
            <a:ext cx="457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当前边界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504688-CB1F-5A16-96D8-BD07B4BAB2FB}"/>
              </a:ext>
            </a:extLst>
          </p:cNvPr>
          <p:cNvSpPr txBox="1"/>
          <p:nvPr/>
        </p:nvSpPr>
        <p:spPr>
          <a:xfrm>
            <a:off x="6680200" y="2209800"/>
            <a:ext cx="4572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真实测井曲线文件尚未接入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数据仍以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文件整理结果为主，尚未落库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权限、审计、运维监控尚未建设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前端仍是轻量原型结构，后续需工程化拆分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D9D8105-D216-215B-C7C0-0354D1EFA2E2}"/>
              </a:ext>
            </a:extLst>
          </p:cNvPr>
          <p:cNvSpPr/>
          <p:nvPr/>
        </p:nvSpPr>
        <p:spPr>
          <a:xfrm>
            <a:off x="558800" y="6350000"/>
            <a:ext cx="2413000" cy="304800"/>
          </a:xfrm>
          <a:prstGeom prst="roundRect">
            <a:avLst/>
          </a:prstGeom>
          <a:solidFill>
            <a:srgbClr val="E8F1FF"/>
          </a:solidFill>
          <a:ln>
            <a:solidFill>
              <a:srgbClr val="CADA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rgbClr val="205ECF"/>
                </a:solidFill>
                <a:latin typeface="Microsoft YaHei" panose="020B0503020204020204" pitchFamily="34" charset="-122"/>
              </a:rPr>
              <a:t>判断：适合作为初步系统成果展示和下一阶段建设基础。</a:t>
            </a:r>
          </a:p>
        </p:txBody>
      </p:sp>
    </p:spTree>
    <p:extLst>
      <p:ext uri="{BB962C8B-B14F-4D97-AF65-F5344CB8AC3E}">
        <p14:creationId xmlns:p14="http://schemas.microsoft.com/office/powerpoint/2010/main" val="1772652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883186-CBBF-6186-878E-38D59A39D5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A04ABF-3D9F-3622-49ED-2655DBB7201C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7EB9A8-62A1-0A28-C5E2-68EFE11B4FF2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后续建设计划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7E121-DAC9-460E-F97E-C9098029ECC6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建议按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3E4D263-5BBC-8008-ABA6-9BB13E9A7FF9}"/>
              </a:ext>
            </a:extLst>
          </p:cNvPr>
          <p:cNvSpPr/>
          <p:nvPr/>
        </p:nvSpPr>
        <p:spPr>
          <a:xfrm>
            <a:off x="736600" y="1955800"/>
            <a:ext cx="2413000" cy="2159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277604-A701-24BB-1415-95AD8C038EE8}"/>
              </a:ext>
            </a:extLst>
          </p:cNvPr>
          <p:cNvSpPr txBox="1"/>
          <p:nvPr/>
        </p:nvSpPr>
        <p:spPr>
          <a:xfrm>
            <a:off x="889000" y="2082800"/>
            <a:ext cx="210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真实对象接入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6899A7-3B50-3B0B-690D-55CF55BAF52D}"/>
              </a:ext>
            </a:extLst>
          </p:cNvPr>
          <p:cNvSpPr txBox="1"/>
          <p:nvPr/>
        </p:nvSpPr>
        <p:spPr>
          <a:xfrm>
            <a:off x="889000" y="2387600"/>
            <a:ext cx="2108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当前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替换井与盆地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shp 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重新发布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IGServer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服务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前端切换真实字段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75715A3-16C1-0E4C-45BF-37E97E6A3F44}"/>
              </a:ext>
            </a:extLst>
          </p:cNvPr>
          <p:cNvCxnSpPr/>
          <p:nvPr/>
        </p:nvCxnSpPr>
        <p:spPr>
          <a:xfrm>
            <a:off x="3251200" y="3022600"/>
            <a:ext cx="431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B91E27A-7A2D-0200-0567-62A925545526}"/>
              </a:ext>
            </a:extLst>
          </p:cNvPr>
          <p:cNvSpPr/>
          <p:nvPr/>
        </p:nvSpPr>
        <p:spPr>
          <a:xfrm>
            <a:off x="3530600" y="1955800"/>
            <a:ext cx="2413000" cy="2159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F2879A-2929-F499-CE43-B1E109D1D75F}"/>
              </a:ext>
            </a:extLst>
          </p:cNvPr>
          <p:cNvSpPr txBox="1"/>
          <p:nvPr/>
        </p:nvSpPr>
        <p:spPr>
          <a:xfrm>
            <a:off x="3683000" y="2082800"/>
            <a:ext cx="210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专题资料增强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FDB788-96A8-C083-3206-88B30DE48F38}"/>
              </a:ext>
            </a:extLst>
          </p:cNvPr>
          <p:cNvSpPr txBox="1"/>
          <p:nvPr/>
        </p:nvSpPr>
        <p:spPr>
          <a:xfrm>
            <a:off x="3683000" y="2387600"/>
            <a:ext cx="2108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1-2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周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扩展井测试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分层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井斜视图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扩展盆地油气系统与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play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视图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统一数据口径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FC62E9D-C390-4DD4-5D49-0A4D8ED7E291}"/>
              </a:ext>
            </a:extLst>
          </p:cNvPr>
          <p:cNvCxnSpPr/>
          <p:nvPr/>
        </p:nvCxnSpPr>
        <p:spPr>
          <a:xfrm>
            <a:off x="6045200" y="3022600"/>
            <a:ext cx="431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1132534-1067-A016-3379-BE8173A876C0}"/>
              </a:ext>
            </a:extLst>
          </p:cNvPr>
          <p:cNvSpPr/>
          <p:nvPr/>
        </p:nvSpPr>
        <p:spPr>
          <a:xfrm>
            <a:off x="6324600" y="1955800"/>
            <a:ext cx="2413000" cy="2159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6F776C-6C8E-0B93-A679-92B12AF6EF10}"/>
              </a:ext>
            </a:extLst>
          </p:cNvPr>
          <p:cNvSpPr txBox="1"/>
          <p:nvPr/>
        </p:nvSpPr>
        <p:spPr>
          <a:xfrm>
            <a:off x="6477000" y="2082800"/>
            <a:ext cx="210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真实曲线接入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34D4AB4-2C51-AB4A-42C4-9809EB5A8699}"/>
              </a:ext>
            </a:extLst>
          </p:cNvPr>
          <p:cNvSpPr txBox="1"/>
          <p:nvPr/>
        </p:nvSpPr>
        <p:spPr>
          <a:xfrm>
            <a:off x="6477000" y="2387600"/>
            <a:ext cx="2108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2-4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周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接入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LAS/DLIS/LIS 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曲线道配置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井资料与曲线联动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5309E3E-2E93-82F6-9D0F-8F9D7EE5FE84}"/>
              </a:ext>
            </a:extLst>
          </p:cNvPr>
          <p:cNvCxnSpPr/>
          <p:nvPr/>
        </p:nvCxnSpPr>
        <p:spPr>
          <a:xfrm>
            <a:off x="8839200" y="3022600"/>
            <a:ext cx="431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85A3F46-4A77-5E4E-D6E1-3744F6BFA9CF}"/>
              </a:ext>
            </a:extLst>
          </p:cNvPr>
          <p:cNvSpPr/>
          <p:nvPr/>
        </p:nvSpPr>
        <p:spPr>
          <a:xfrm>
            <a:off x="9118600" y="1955800"/>
            <a:ext cx="2413000" cy="2159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DB0A6F-E3C0-8CD3-FFE9-21B62B8A187F}"/>
              </a:ext>
            </a:extLst>
          </p:cNvPr>
          <p:cNvSpPr txBox="1"/>
          <p:nvPr/>
        </p:nvSpPr>
        <p:spPr>
          <a:xfrm>
            <a:off x="9271000" y="2082800"/>
            <a:ext cx="210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系统工程化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963862-E26E-0A29-56E9-52DAD2903641}"/>
              </a:ext>
            </a:extLst>
          </p:cNvPr>
          <p:cNvSpPr txBox="1"/>
          <p:nvPr/>
        </p:nvSpPr>
        <p:spPr>
          <a:xfrm>
            <a:off x="9271000" y="2387600"/>
            <a:ext cx="2108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1-2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月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前端模块拆分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数据库落库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权限与审计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部署运维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E06B9EF-1A74-E378-54BB-6FB7794F6A66}"/>
              </a:ext>
            </a:extLst>
          </p:cNvPr>
          <p:cNvSpPr/>
          <p:nvPr/>
        </p:nvSpPr>
        <p:spPr>
          <a:xfrm>
            <a:off x="1066800" y="4826000"/>
            <a:ext cx="10033000" cy="939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1590D0-D299-506F-53C0-F3505AF1E4EF}"/>
              </a:ext>
            </a:extLst>
          </p:cNvPr>
          <p:cNvSpPr/>
          <p:nvPr/>
        </p:nvSpPr>
        <p:spPr>
          <a:xfrm>
            <a:off x="1066800" y="4826000"/>
            <a:ext cx="76200" cy="9398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FA23DA-9B83-D768-C181-4BBC5A1D1E1E}"/>
              </a:ext>
            </a:extLst>
          </p:cNvPr>
          <p:cNvSpPr txBox="1"/>
          <p:nvPr/>
        </p:nvSpPr>
        <p:spPr>
          <a:xfrm>
            <a:off x="1295400" y="50292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近期建议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218F4BA-F60F-F3F9-6690-7C1F9800AF56}"/>
              </a:ext>
            </a:extLst>
          </p:cNvPr>
          <p:cNvSpPr txBox="1"/>
          <p:nvPr/>
        </p:nvSpPr>
        <p:spPr>
          <a:xfrm>
            <a:off x="1295400" y="54102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优先把井测试、分层、井斜、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checkshot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和盆地油气系统等数据做成更明确的专题看板；随后接入真实曲线文件。</a:t>
            </a:r>
          </a:p>
        </p:txBody>
      </p:sp>
    </p:spTree>
    <p:extLst>
      <p:ext uri="{BB962C8B-B14F-4D97-AF65-F5344CB8AC3E}">
        <p14:creationId xmlns:p14="http://schemas.microsoft.com/office/powerpoint/2010/main" val="127924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2D6AE-6BF5-FF6F-B930-9729DC6D5C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54EB3C-EC15-1B0A-4AD8-54E00BDC3D66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EA2A7A-FCFE-6FF8-1821-FDBCDEAA918F}"/>
              </a:ext>
            </a:extLst>
          </p:cNvPr>
          <p:cNvSpPr txBox="1"/>
          <p:nvPr/>
        </p:nvSpPr>
        <p:spPr>
          <a:xfrm>
            <a:off x="558800" y="355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需要其他专题协助的问题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9D4D55-512F-6211-E57E-1AF769FB27B5}"/>
              </a:ext>
            </a:extLst>
          </p:cNvPr>
          <p:cNvSpPr txBox="1"/>
          <p:nvPr/>
        </p:nvSpPr>
        <p:spPr>
          <a:xfrm>
            <a:off x="558800" y="1041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这些问题决定系统能否从初步展示继续升级为可用平台。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54CD03-1DE2-D1FB-9A07-EEA600CD5BD1}"/>
              </a:ext>
            </a:extLst>
          </p:cNvPr>
          <p:cNvSpPr/>
          <p:nvPr/>
        </p:nvSpPr>
        <p:spPr>
          <a:xfrm>
            <a:off x="685800" y="15748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4A7ED6-3832-BC40-BE5B-EBDC3A92886A}"/>
              </a:ext>
            </a:extLst>
          </p:cNvPr>
          <p:cNvSpPr/>
          <p:nvPr/>
        </p:nvSpPr>
        <p:spPr>
          <a:xfrm>
            <a:off x="685800" y="1574800"/>
            <a:ext cx="76200" cy="18288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C6029C-716A-CAEA-7DC7-CC18A5708E7E}"/>
              </a:ext>
            </a:extLst>
          </p:cNvPr>
          <p:cNvSpPr txBox="1"/>
          <p:nvPr/>
        </p:nvSpPr>
        <p:spPr>
          <a:xfrm>
            <a:off x="914400" y="17780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数据专题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31AA68-3CF8-5221-6694-55DB301BFFB9}"/>
              </a:ext>
            </a:extLst>
          </p:cNvPr>
          <p:cNvSpPr txBox="1"/>
          <p:nvPr/>
        </p:nvSpPr>
        <p:spPr>
          <a:xfrm>
            <a:off x="914400" y="21590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确认井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盆地表字段口径、数据更新频率、文件命名规范和授权边界。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E38E7A9-25A8-8828-7E8A-3D546B35E0E7}"/>
              </a:ext>
            </a:extLst>
          </p:cNvPr>
          <p:cNvSpPr/>
          <p:nvPr/>
        </p:nvSpPr>
        <p:spPr>
          <a:xfrm>
            <a:off x="4445000" y="15748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4CC048-C7EB-67F6-BFAD-4E4505D7AFC0}"/>
              </a:ext>
            </a:extLst>
          </p:cNvPr>
          <p:cNvSpPr/>
          <p:nvPr/>
        </p:nvSpPr>
        <p:spPr>
          <a:xfrm>
            <a:off x="4445000" y="1574800"/>
            <a:ext cx="76200" cy="18288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16BCE3-2161-123A-6C31-CC1AF5529163}"/>
              </a:ext>
            </a:extLst>
          </p:cNvPr>
          <p:cNvSpPr txBox="1"/>
          <p:nvPr/>
        </p:nvSpPr>
        <p:spPr>
          <a:xfrm>
            <a:off x="4673600" y="17780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测井解释专题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2C5E38-F49D-FD15-2ABE-20F87ADB312B}"/>
              </a:ext>
            </a:extLst>
          </p:cNvPr>
          <p:cNvSpPr txBox="1"/>
          <p:nvPr/>
        </p:nvSpPr>
        <p:spPr>
          <a:xfrm>
            <a:off x="4673600" y="21590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提供真实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LAS/DLIS/LIS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或带深度采样的曲线文件，并确认曲线道、单位和解释口径。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12FE145-FE7C-0711-2510-BE881E718F03}"/>
              </a:ext>
            </a:extLst>
          </p:cNvPr>
          <p:cNvSpPr/>
          <p:nvPr/>
        </p:nvSpPr>
        <p:spPr>
          <a:xfrm>
            <a:off x="8204200" y="15748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5F64E0-F3EE-23FD-B417-98498A0B6838}"/>
              </a:ext>
            </a:extLst>
          </p:cNvPr>
          <p:cNvSpPr/>
          <p:nvPr/>
        </p:nvSpPr>
        <p:spPr>
          <a:xfrm>
            <a:off x="8204200" y="1574800"/>
            <a:ext cx="76200" cy="18288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61B63CA-7748-1BA6-37F1-D93A089BCB45}"/>
              </a:ext>
            </a:extLst>
          </p:cNvPr>
          <p:cNvSpPr txBox="1"/>
          <p:nvPr/>
        </p:nvSpPr>
        <p:spPr>
          <a:xfrm>
            <a:off x="8432800" y="17780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GIS / MapGIS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专题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D2A712-2377-5415-628B-DCE39AF4A2EA}"/>
              </a:ext>
            </a:extLst>
          </p:cNvPr>
          <p:cNvSpPr txBox="1"/>
          <p:nvPr/>
        </p:nvSpPr>
        <p:spPr>
          <a:xfrm>
            <a:off x="8432800" y="21590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协助确定正式服务发布流程、服务命名规范、坐标系转换、权限和部署环境。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8D402C1-9278-B659-C4EE-FF75373B0918}"/>
              </a:ext>
            </a:extLst>
          </p:cNvPr>
          <p:cNvSpPr/>
          <p:nvPr/>
        </p:nvSpPr>
        <p:spPr>
          <a:xfrm>
            <a:off x="685800" y="38862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5369D3-191E-63B5-B088-7E900DFA8639}"/>
              </a:ext>
            </a:extLst>
          </p:cNvPr>
          <p:cNvSpPr/>
          <p:nvPr/>
        </p:nvSpPr>
        <p:spPr>
          <a:xfrm>
            <a:off x="685800" y="3886200"/>
            <a:ext cx="76200" cy="18288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ADE41D-99D3-73D1-87EA-078CF6D47CF7}"/>
              </a:ext>
            </a:extLst>
          </p:cNvPr>
          <p:cNvSpPr txBox="1"/>
          <p:nvPr/>
        </p:nvSpPr>
        <p:spPr>
          <a:xfrm>
            <a:off x="914400" y="4089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地质业务专题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7979D3-33E3-74DD-92F8-89D7AAE52E62}"/>
              </a:ext>
            </a:extLst>
          </p:cNvPr>
          <p:cNvSpPr txBox="1"/>
          <p:nvPr/>
        </p:nvSpPr>
        <p:spPr>
          <a:xfrm>
            <a:off x="914400" y="44704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确认盆地、油气系统、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play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、地层、测试等业务字段的展示优先级和筛选逻辑。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97E60C6-DEA0-3870-8A9A-B3FCDC236F7D}"/>
              </a:ext>
            </a:extLst>
          </p:cNvPr>
          <p:cNvSpPr/>
          <p:nvPr/>
        </p:nvSpPr>
        <p:spPr>
          <a:xfrm>
            <a:off x="4445000" y="38862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5255D5-0CB9-57A0-C1A2-83AD687655A7}"/>
              </a:ext>
            </a:extLst>
          </p:cNvPr>
          <p:cNvSpPr/>
          <p:nvPr/>
        </p:nvSpPr>
        <p:spPr>
          <a:xfrm>
            <a:off x="4445000" y="3886200"/>
            <a:ext cx="76200" cy="1828800"/>
          </a:xfrm>
          <a:prstGeom prst="rect">
            <a:avLst/>
          </a:prstGeom>
          <a:solidFill>
            <a:srgbClr val="C447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C0B3FFD-FB5F-8A5F-EF0C-8550787C8924}"/>
              </a:ext>
            </a:extLst>
          </p:cNvPr>
          <p:cNvSpPr txBox="1"/>
          <p:nvPr/>
        </p:nvSpPr>
        <p:spPr>
          <a:xfrm>
            <a:off x="4673600" y="4089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平台运维专题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B5D821-4B6D-FE48-A1EC-5B7FFFF630C6}"/>
              </a:ext>
            </a:extLst>
          </p:cNvPr>
          <p:cNvSpPr txBox="1"/>
          <p:nvPr/>
        </p:nvSpPr>
        <p:spPr>
          <a:xfrm>
            <a:off x="4673600" y="44704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协助规划数据库、权限审计、日志监控、备份恢复、服务健康检查和正式部署方式。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E0BE8C6-5B1C-E62B-338B-74FDDEA8C87F}"/>
              </a:ext>
            </a:extLst>
          </p:cNvPr>
          <p:cNvSpPr/>
          <p:nvPr/>
        </p:nvSpPr>
        <p:spPr>
          <a:xfrm>
            <a:off x="8204200" y="38862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90DEE3-F37B-E7D9-0D05-37177CCEAE65}"/>
              </a:ext>
            </a:extLst>
          </p:cNvPr>
          <p:cNvSpPr/>
          <p:nvPr/>
        </p:nvSpPr>
        <p:spPr>
          <a:xfrm>
            <a:off x="8204200" y="3886200"/>
            <a:ext cx="76200" cy="1828800"/>
          </a:xfrm>
          <a:prstGeom prst="rect">
            <a:avLst/>
          </a:prstGeom>
          <a:solidFill>
            <a:srgbClr val="3D53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CF15AEB-83D8-65B6-D5B4-6E280CB13F02}"/>
              </a:ext>
            </a:extLst>
          </p:cNvPr>
          <p:cNvSpPr txBox="1"/>
          <p:nvPr/>
        </p:nvSpPr>
        <p:spPr>
          <a:xfrm>
            <a:off x="8432800" y="4089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项目协同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F811414-AA07-3D9C-384F-665CA08B31D5}"/>
              </a:ext>
            </a:extLst>
          </p:cNvPr>
          <p:cNvSpPr txBox="1"/>
          <p:nvPr/>
        </p:nvSpPr>
        <p:spPr>
          <a:xfrm>
            <a:off x="8432800" y="44704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确定下一阶段里程碑、验收口径、样例数据范围和跨专题联调机制。</a:t>
            </a:r>
          </a:p>
        </p:txBody>
      </p:sp>
    </p:spTree>
    <p:extLst>
      <p:ext uri="{BB962C8B-B14F-4D97-AF65-F5344CB8AC3E}">
        <p14:creationId xmlns:p14="http://schemas.microsoft.com/office/powerpoint/2010/main" val="860398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891468-4FB2-E323-B873-4763993EF5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B0176B-D157-5C9D-C2B6-DB655B33B0E2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12356F-E8B5-3014-1DEE-C5F92AA5457B}"/>
              </a:ext>
            </a:extLst>
          </p:cNvPr>
          <p:cNvSpPr txBox="1"/>
          <p:nvPr/>
        </p:nvSpPr>
        <p:spPr>
          <a:xfrm>
            <a:off x="889000" y="1092200"/>
            <a:ext cx="508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000" b="1">
                <a:solidFill>
                  <a:srgbClr val="091E42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B6F79B-6111-F1EB-DA39-337A1D50DED5}"/>
              </a:ext>
            </a:extLst>
          </p:cNvPr>
          <p:cNvSpPr txBox="1"/>
          <p:nvPr/>
        </p:nvSpPr>
        <p:spPr>
          <a:xfrm>
            <a:off x="1092200" y="2082800"/>
            <a:ext cx="9652000" cy="127727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系统已完成真实井位与盆地数据的初步展示闭环。</a:t>
            </a:r>
          </a:p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当前架构以 </a:t>
            </a: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MapGIS IGServer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为核心，前端通过服务代理和配置文件实现联动展示。</a:t>
            </a:r>
          </a:p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后续重点是补齐真实测井曲线、扩展专题表视图、推进数据库与权限等工程化能力。</a:t>
            </a:r>
          </a:p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需要数据、测井解释、</a:t>
            </a: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GIS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、地质业务和运维专题共同协助。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BDA6A2F-6881-D831-B7BA-C164BF66417F}"/>
              </a:ext>
            </a:extLst>
          </p:cNvPr>
          <p:cNvSpPr/>
          <p:nvPr/>
        </p:nvSpPr>
        <p:spPr>
          <a:xfrm>
            <a:off x="2032000" y="4953000"/>
            <a:ext cx="8128000" cy="914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BC7C46-0EE0-495A-B734-C58F8F8749FD}"/>
              </a:ext>
            </a:extLst>
          </p:cNvPr>
          <p:cNvSpPr/>
          <p:nvPr/>
        </p:nvSpPr>
        <p:spPr>
          <a:xfrm>
            <a:off x="2032000" y="4953000"/>
            <a:ext cx="76200" cy="914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E62D67-EA59-26D5-84E8-1B0EF4704CC1}"/>
              </a:ext>
            </a:extLst>
          </p:cNvPr>
          <p:cNvSpPr txBox="1"/>
          <p:nvPr/>
        </p:nvSpPr>
        <p:spPr>
          <a:xfrm>
            <a:off x="2260600" y="5156200"/>
            <a:ext cx="774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下一步建议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451C61-727F-07E7-2EE9-8B28FC347EC4}"/>
              </a:ext>
            </a:extLst>
          </p:cNvPr>
          <p:cNvSpPr txBox="1"/>
          <p:nvPr/>
        </p:nvSpPr>
        <p:spPr>
          <a:xfrm>
            <a:off x="2260600" y="5537200"/>
            <a:ext cx="7747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先做真实曲线文件接入方案和专题资料视图增强，再启动系统工程化改造。</a:t>
            </a:r>
          </a:p>
        </p:txBody>
      </p:sp>
    </p:spTree>
    <p:extLst>
      <p:ext uri="{BB962C8B-B14F-4D97-AF65-F5344CB8AC3E}">
        <p14:creationId xmlns:p14="http://schemas.microsoft.com/office/powerpoint/2010/main" val="141327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1487</Words>
  <Application>Microsoft Office PowerPoint</Application>
  <PresentationFormat>自定义</PresentationFormat>
  <Paragraphs>172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1719994808@qq.com</dc:creator>
  <cp:lastModifiedBy>1719994808@qq.com</cp:lastModifiedBy>
  <cp:revision>1</cp:revision>
  <dcterms:created xsi:type="dcterms:W3CDTF">2026-04-11T06:09:59Z</dcterms:created>
  <dcterms:modified xsi:type="dcterms:W3CDTF">2026-04-11T06:09:59Z</dcterms:modified>
</cp:coreProperties>
</file>