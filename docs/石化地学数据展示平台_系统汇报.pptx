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1D7BA-E0DE-D45B-DDA7-D8E08E988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6EBCE1-DEDF-82D2-B3CA-554D3837F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D7778-ED0B-821B-173E-BFDCAEB2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DE3A-F8D0-43DD-BB68-89368A39C063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4733E4-865D-D8BD-B87F-A746C2317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907869-CF42-48B6-50A5-86F450DF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BBE2-A063-4BA8-ABE1-D1314D897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44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50E96-B40B-E71A-8347-C43A39EE6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E01BA-83F1-86CC-D888-963782D57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3D4215-9004-EA1D-79AA-E926C99EF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DE3A-F8D0-43DD-BB68-89368A39C063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1AF949-E871-53EB-63FC-CE3519521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5CD34B-0D6D-8F23-DC65-FE08A00F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BBE2-A063-4BA8-ABE1-D1314D897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527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6EE86D-71A5-DF8F-A129-83BBF643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B4FD80-1375-E4BA-315F-E10498EB5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65E4CE-E3EF-D52D-263B-24449597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DE3A-F8D0-43DD-BB68-89368A39C063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80B258-66C8-0FBB-F4D4-80DBCA52E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11627C-76C2-AC60-4EDE-4F183B45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BBE2-A063-4BA8-ABE1-D1314D897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05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A6740D-F79F-5354-1FB7-EC755E71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25F461-5ADE-0F2E-E592-248B8ABEA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E69776-3F6F-7271-F5C2-0ED8BF3B4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EB3E67-E9D0-C9A1-8546-35199394F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DE3A-F8D0-43DD-BB68-89368A39C063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461054-0F5A-6502-608C-83778E1A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8EC262-06CD-9935-2F6B-6A4117C7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BBE2-A063-4BA8-ABE1-D1314D897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8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98AA4-781D-B419-D690-292A82AFE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B252E3-2308-9FED-DEA7-E541CC913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7D581C-829D-6E13-AEC9-049968220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DFEA03-5E7C-D929-6D94-3630AF0A0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F990D1-EB84-26D2-7BB5-8C8B98EA2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1FFD91A-E442-73CC-8529-808038DD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DE3A-F8D0-43DD-BB68-89368A39C063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85E4B7-54E6-7E83-B379-A1B84B10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E362DB-4223-FC9C-94F0-A32885F7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BBE2-A063-4BA8-ABE1-D1314D897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474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2C75D-36C4-80BD-17B4-D7B5BB997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7B4672-5854-8E7D-7772-F7434B3B1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DE3A-F8D0-43DD-BB68-89368A39C063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B93272-DBC1-7097-FEA8-BB7D3B19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E64B3F-AE91-ED47-FB88-374E2673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BBE2-A063-4BA8-ABE1-D1314D897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79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E59B81-7C3B-2B5B-9913-364F4E181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DE3A-F8D0-43DD-BB68-89368A39C063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D148AF-2CCA-7FCB-FAF0-8962042A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99F8A3-0071-B676-45C9-F098107CB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BBE2-A063-4BA8-ABE1-D1314D897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32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D64222-07B7-EDAE-6C3E-611E851C8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212589-B27F-67DB-83CC-D30192ECB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DB3DA3-6E33-591D-508F-799A73C76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D37453-7D2C-70DE-8B63-BB733AE1B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DE3A-F8D0-43DD-BB68-89368A39C063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B15F69-351E-6FC6-8A7C-A6EA9982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04BEE2-98C6-A8DD-BE89-67146D3E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BBE2-A063-4BA8-ABE1-D1314D897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068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EEC61-B6EE-1C62-49AA-98754E2C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73C9F4-426D-F5C6-7A00-369C6C2066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5E8AF8-A67C-9E6B-983E-909C378D9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1F53AE-8241-81C7-1A87-FA9FEEF1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DE3A-F8D0-43DD-BB68-89368A39C063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B197AE-CC88-1778-7158-381C5083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A7EC91-141E-398F-85E7-04F12EC38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BBE2-A063-4BA8-ABE1-D1314D897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03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CBB24-34A5-EE8A-9A3D-30848312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6AA5E7-08F8-74FB-CDC6-7359E36C2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1B4A90-87F1-828D-1016-20741A42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DE3A-F8D0-43DD-BB68-89368A39C063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9713D9-CE7F-B0D6-E46C-B8114770C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D7FB3-58D8-2E34-1E9B-74BD394D6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BBE2-A063-4BA8-ABE1-D1314D897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9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5F2758-867B-BF0A-8FA5-A675786E5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FB9789-9B46-C3E0-D678-0CBA0313B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0F898F-DDA7-E442-630A-506C1673D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DE3A-F8D0-43DD-BB68-89368A39C063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E9249E-49E9-96D9-5450-36245E6F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A2C1F7-80B9-DAB0-DA80-229B77390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6BBE2-A063-4BA8-ABE1-D1314D897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27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6184DA2-C050-5DF2-434B-A0C782BBB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DAADDB-DA7A-58EA-BCA2-4C756C406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6F8AEA-C0F8-BF58-479C-F92F03832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EDE3A-F8D0-43DD-BB68-89368A39C063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A75A2A-DE0D-DAAF-7750-00E8981F9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49CF6A-514A-D466-364D-49041FD7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6BBE2-A063-4BA8-ABE1-D1314D897B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7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B0C4D9-CC1D-9C40-C72D-2BC4B245F4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6AAA8F-D1FF-F648-EBB7-626897AAA73A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3E96D7-3C5C-138C-6DF1-401932FC5118}"/>
              </a:ext>
            </a:extLst>
          </p:cNvPr>
          <p:cNvSpPr txBox="1"/>
          <p:nvPr/>
        </p:nvSpPr>
        <p:spPr>
          <a:xfrm>
            <a:off x="812800" y="1422400"/>
            <a:ext cx="914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400" b="1">
                <a:solidFill>
                  <a:srgbClr val="091E42"/>
                </a:solidFill>
                <a:latin typeface="Microsoft YaHei" panose="020B0503020204020204" pitchFamily="34" charset="-122"/>
              </a:rPr>
              <a:t>石化地学数据展示平台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EC453F-7EA2-E5A5-90AB-FD94098B8BA2}"/>
              </a:ext>
            </a:extLst>
          </p:cNvPr>
          <p:cNvSpPr txBox="1"/>
          <p:nvPr/>
        </p:nvSpPr>
        <p:spPr>
          <a:xfrm>
            <a:off x="838200" y="22860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>
                <a:solidFill>
                  <a:srgbClr val="5B6F89"/>
                </a:solidFill>
                <a:latin typeface="Microsoft YaHei" panose="020B0503020204020204" pitchFamily="34" charset="-122"/>
              </a:rPr>
              <a:t>系统设计实现架构、功能展示与后续协同计划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0CA29BC-CC3D-48A6-B908-51C7A663589A}"/>
              </a:ext>
            </a:extLst>
          </p:cNvPr>
          <p:cNvSpPr/>
          <p:nvPr/>
        </p:nvSpPr>
        <p:spPr>
          <a:xfrm>
            <a:off x="838200" y="3022600"/>
            <a:ext cx="1625600" cy="279400"/>
          </a:xfrm>
          <a:prstGeom prst="roundRect">
            <a:avLst/>
          </a:prstGeom>
          <a:solidFill>
            <a:srgbClr val="E8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MapGIS IGServer</a:t>
            </a:r>
            <a:endParaRPr lang="zh-CN" altLang="en-US" sz="900" b="1">
              <a:solidFill>
                <a:srgbClr val="0F6D5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DAC8D9-A17A-CF2E-595F-E1FAC726E644}"/>
              </a:ext>
            </a:extLst>
          </p:cNvPr>
          <p:cNvSpPr/>
          <p:nvPr/>
        </p:nvSpPr>
        <p:spPr>
          <a:xfrm>
            <a:off x="2616200" y="3022600"/>
            <a:ext cx="1422400" cy="279400"/>
          </a:xfrm>
          <a:prstGeom prst="roundRect">
            <a:avLst/>
          </a:prstGeom>
          <a:solidFill>
            <a:srgbClr val="E8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FeatureServer</a:t>
            </a:r>
            <a:endParaRPr lang="zh-CN" altLang="en-US" sz="900" b="1">
              <a:solidFill>
                <a:srgbClr val="0F6D5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FCD9B6C-F2C4-049F-B7B2-18477A326AA3}"/>
              </a:ext>
            </a:extLst>
          </p:cNvPr>
          <p:cNvSpPr/>
          <p:nvPr/>
        </p:nvSpPr>
        <p:spPr>
          <a:xfrm>
            <a:off x="4191000" y="3022600"/>
            <a:ext cx="2159000" cy="279400"/>
          </a:xfrm>
          <a:prstGeom prst="roundRect">
            <a:avLst/>
          </a:prstGeom>
          <a:solidFill>
            <a:srgbClr val="E8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井位 </a:t>
            </a:r>
            <a:r>
              <a:rPr lang="en-US" altLang="zh-CN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盆地 </a:t>
            </a:r>
            <a:r>
              <a:rPr lang="en-US" altLang="zh-CN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井史 </a:t>
            </a:r>
            <a:r>
              <a:rPr lang="en-US" altLang="zh-CN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 b="1">
                <a:solidFill>
                  <a:srgbClr val="0F6D58"/>
                </a:solidFill>
                <a:latin typeface="Microsoft YaHei" panose="020B0503020204020204" pitchFamily="34" charset="-122"/>
              </a:rPr>
              <a:t>曲线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F1AB280-39DB-02B4-497A-4C8CE8837BB6}"/>
              </a:ext>
            </a:extLst>
          </p:cNvPr>
          <p:cNvSpPr/>
          <p:nvPr/>
        </p:nvSpPr>
        <p:spPr>
          <a:xfrm>
            <a:off x="7747000" y="1498600"/>
            <a:ext cx="3429000" cy="2413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91B841-FB3B-B822-0E17-C956695FAFAD}"/>
              </a:ext>
            </a:extLst>
          </p:cNvPr>
          <p:cNvSpPr/>
          <p:nvPr/>
        </p:nvSpPr>
        <p:spPr>
          <a:xfrm>
            <a:off x="7747000" y="1498600"/>
            <a:ext cx="76200" cy="2413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E5EA46-4957-042E-6D5A-29A12AFEB999}"/>
              </a:ext>
            </a:extLst>
          </p:cNvPr>
          <p:cNvSpPr txBox="1"/>
          <p:nvPr/>
        </p:nvSpPr>
        <p:spPr>
          <a:xfrm>
            <a:off x="7975600" y="1701800"/>
            <a:ext cx="304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当前状态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A28A5B-EDA3-ADA5-17BE-DA15BF9F2556}"/>
              </a:ext>
            </a:extLst>
          </p:cNvPr>
          <p:cNvSpPr txBox="1"/>
          <p:nvPr/>
        </p:nvSpPr>
        <p:spPr>
          <a:xfrm>
            <a:off x="7975600" y="2082800"/>
            <a:ext cx="304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已完成真实井位与盆地服务接入，完成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井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盆地专题表整理，并保留样例测井曲线展示能力。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72FF966-1CEB-A0DA-335E-7B080C36A034}"/>
              </a:ext>
            </a:extLst>
          </p:cNvPr>
          <p:cNvSpPr/>
          <p:nvPr/>
        </p:nvSpPr>
        <p:spPr>
          <a:xfrm>
            <a:off x="558800" y="6350000"/>
            <a:ext cx="2413000" cy="304800"/>
          </a:xfrm>
          <a:prstGeom prst="roundRect">
            <a:avLst/>
          </a:prstGeom>
          <a:solidFill>
            <a:srgbClr val="E8F1FF"/>
          </a:solidFill>
          <a:ln>
            <a:solidFill>
              <a:srgbClr val="CADA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rgbClr val="205ECF"/>
                </a:solidFill>
                <a:latin typeface="Microsoft YaHei" panose="020B0503020204020204" pitchFamily="34" charset="-122"/>
              </a:rPr>
              <a:t>汇报版本：初步完成版 </a:t>
            </a:r>
            <a:r>
              <a:rPr lang="en-US" altLang="zh-CN" sz="1000" b="1">
                <a:solidFill>
                  <a:srgbClr val="205ECF"/>
                </a:solidFill>
                <a:latin typeface="Microsoft YaHei" panose="020B0503020204020204" pitchFamily="34" charset="-122"/>
              </a:rPr>
              <a:t>/ 2026-04</a:t>
            </a:r>
            <a:endParaRPr lang="zh-CN" altLang="en-US" sz="1000" b="1">
              <a:solidFill>
                <a:srgbClr val="205EC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9688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9D9485-7C1D-CF83-F55D-B0E3D3E68A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F1A1F6-685B-AF49-60FE-2D36595EED2B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7CE294-337B-79AA-BE57-3CC5218A9FE5}"/>
              </a:ext>
            </a:extLst>
          </p:cNvPr>
          <p:cNvSpPr txBox="1"/>
          <p:nvPr/>
        </p:nvSpPr>
        <p:spPr>
          <a:xfrm>
            <a:off x="558800" y="355600"/>
            <a:ext cx="711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汇报内容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DB10E2-3E35-5439-B0A4-D68F0419F769}"/>
              </a:ext>
            </a:extLst>
          </p:cNvPr>
          <p:cNvSpPr txBox="1"/>
          <p:nvPr/>
        </p:nvSpPr>
        <p:spPr>
          <a:xfrm>
            <a:off x="558800" y="8890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从建设目标到系统实现，再到后续计划和协同事项。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5FF0676-F74D-B65D-4F17-990BD01AD733}"/>
              </a:ext>
            </a:extLst>
          </p:cNvPr>
          <p:cNvSpPr/>
          <p:nvPr/>
        </p:nvSpPr>
        <p:spPr>
          <a:xfrm>
            <a:off x="1168400" y="1752600"/>
            <a:ext cx="2794000" cy="1168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2AF2A5-6657-F071-D9D6-A4016ECC3F1C}"/>
              </a:ext>
            </a:extLst>
          </p:cNvPr>
          <p:cNvSpPr/>
          <p:nvPr/>
        </p:nvSpPr>
        <p:spPr>
          <a:xfrm>
            <a:off x="1168400" y="1752600"/>
            <a:ext cx="76200" cy="1168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46C674-E73C-857A-1741-8DD4680213AC}"/>
              </a:ext>
            </a:extLst>
          </p:cNvPr>
          <p:cNvSpPr txBox="1"/>
          <p:nvPr/>
        </p:nvSpPr>
        <p:spPr>
          <a:xfrm>
            <a:off x="1397000" y="19558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01.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建设目标与系统定位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EEE9C2-508F-F8F7-FAFC-0A452BE5D02D}"/>
              </a:ext>
            </a:extLst>
          </p:cNvPr>
          <p:cNvSpPr txBox="1"/>
          <p:nvPr/>
        </p:nvSpPr>
        <p:spPr>
          <a:xfrm>
            <a:off x="1397000" y="23368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369A268-4825-FA2E-6B9E-458840A45E72}"/>
              </a:ext>
            </a:extLst>
          </p:cNvPr>
          <p:cNvSpPr/>
          <p:nvPr/>
        </p:nvSpPr>
        <p:spPr>
          <a:xfrm>
            <a:off x="4597400" y="1752600"/>
            <a:ext cx="2794000" cy="1168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2F29EC-8C3F-4DEB-6B54-2F6E4B652E05}"/>
              </a:ext>
            </a:extLst>
          </p:cNvPr>
          <p:cNvSpPr/>
          <p:nvPr/>
        </p:nvSpPr>
        <p:spPr>
          <a:xfrm>
            <a:off x="4597400" y="1752600"/>
            <a:ext cx="76200" cy="1168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189C23-F92E-7AB3-7F1C-B800345561E4}"/>
              </a:ext>
            </a:extLst>
          </p:cNvPr>
          <p:cNvSpPr txBox="1"/>
          <p:nvPr/>
        </p:nvSpPr>
        <p:spPr>
          <a:xfrm>
            <a:off x="4826000" y="19558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02.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总体架构与数据链路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21CDC0-E727-3B23-3524-30FA752077C1}"/>
              </a:ext>
            </a:extLst>
          </p:cNvPr>
          <p:cNvSpPr txBox="1"/>
          <p:nvPr/>
        </p:nvSpPr>
        <p:spPr>
          <a:xfrm>
            <a:off x="4826000" y="23368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F2CAE2F-67F9-F9EE-7E94-7F131F114375}"/>
              </a:ext>
            </a:extLst>
          </p:cNvPr>
          <p:cNvSpPr/>
          <p:nvPr/>
        </p:nvSpPr>
        <p:spPr>
          <a:xfrm>
            <a:off x="8026400" y="1752600"/>
            <a:ext cx="2794000" cy="1168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DFEDEA4-8321-9CAD-2C5F-4268FE0C649C}"/>
              </a:ext>
            </a:extLst>
          </p:cNvPr>
          <p:cNvSpPr/>
          <p:nvPr/>
        </p:nvSpPr>
        <p:spPr>
          <a:xfrm>
            <a:off x="8026400" y="1752600"/>
            <a:ext cx="76200" cy="1168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384EAE-D136-DD56-AD2C-66B90ECA86A6}"/>
              </a:ext>
            </a:extLst>
          </p:cNvPr>
          <p:cNvSpPr txBox="1"/>
          <p:nvPr/>
        </p:nvSpPr>
        <p:spPr>
          <a:xfrm>
            <a:off x="8255000" y="19558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03.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核心功能展示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349A80D-F1B5-8107-3003-4EFFDEEB4627}"/>
              </a:ext>
            </a:extLst>
          </p:cNvPr>
          <p:cNvSpPr txBox="1"/>
          <p:nvPr/>
        </p:nvSpPr>
        <p:spPr>
          <a:xfrm>
            <a:off x="8255000" y="23368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27969DD-C039-4F32-B98B-85F7A7D6B794}"/>
              </a:ext>
            </a:extLst>
          </p:cNvPr>
          <p:cNvSpPr/>
          <p:nvPr/>
        </p:nvSpPr>
        <p:spPr>
          <a:xfrm>
            <a:off x="1168400" y="3505200"/>
            <a:ext cx="2794000" cy="1168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7F82B6-DDB7-E8C5-623E-26252F69D7AF}"/>
              </a:ext>
            </a:extLst>
          </p:cNvPr>
          <p:cNvSpPr/>
          <p:nvPr/>
        </p:nvSpPr>
        <p:spPr>
          <a:xfrm>
            <a:off x="1168400" y="3505200"/>
            <a:ext cx="76200" cy="1168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94A8183-0FA3-C9BF-6221-5585604B06B6}"/>
              </a:ext>
            </a:extLst>
          </p:cNvPr>
          <p:cNvSpPr txBox="1"/>
          <p:nvPr/>
        </p:nvSpPr>
        <p:spPr>
          <a:xfrm>
            <a:off x="1397000" y="37084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04.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当前成果与存在边界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941E49-2547-4608-D788-52AF20801290}"/>
              </a:ext>
            </a:extLst>
          </p:cNvPr>
          <p:cNvSpPr txBox="1"/>
          <p:nvPr/>
        </p:nvSpPr>
        <p:spPr>
          <a:xfrm>
            <a:off x="1397000" y="40894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E7EE2CB-444C-888F-8510-74C3C7166071}"/>
              </a:ext>
            </a:extLst>
          </p:cNvPr>
          <p:cNvSpPr/>
          <p:nvPr/>
        </p:nvSpPr>
        <p:spPr>
          <a:xfrm>
            <a:off x="4597400" y="3505200"/>
            <a:ext cx="2794000" cy="1168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69CC6E-AA48-632B-2FEA-F6C1C3805770}"/>
              </a:ext>
            </a:extLst>
          </p:cNvPr>
          <p:cNvSpPr/>
          <p:nvPr/>
        </p:nvSpPr>
        <p:spPr>
          <a:xfrm>
            <a:off x="4597400" y="3505200"/>
            <a:ext cx="76200" cy="1168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D21D78-E01F-A8EB-11D6-73B401F48631}"/>
              </a:ext>
            </a:extLst>
          </p:cNvPr>
          <p:cNvSpPr txBox="1"/>
          <p:nvPr/>
        </p:nvSpPr>
        <p:spPr>
          <a:xfrm>
            <a:off x="4826000" y="37084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05.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后续建设计划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5C6C98E-2E4C-EA88-3FD9-9E2AA439B8C8}"/>
              </a:ext>
            </a:extLst>
          </p:cNvPr>
          <p:cNvSpPr txBox="1"/>
          <p:nvPr/>
        </p:nvSpPr>
        <p:spPr>
          <a:xfrm>
            <a:off x="4826000" y="40894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5FC7BFD-C172-E01C-2993-1B3F4C8669B7}"/>
              </a:ext>
            </a:extLst>
          </p:cNvPr>
          <p:cNvSpPr/>
          <p:nvPr/>
        </p:nvSpPr>
        <p:spPr>
          <a:xfrm>
            <a:off x="8026400" y="3505200"/>
            <a:ext cx="2794000" cy="1168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682F9AC-1805-3083-CB2B-6655825B7552}"/>
              </a:ext>
            </a:extLst>
          </p:cNvPr>
          <p:cNvSpPr/>
          <p:nvPr/>
        </p:nvSpPr>
        <p:spPr>
          <a:xfrm>
            <a:off x="8026400" y="3505200"/>
            <a:ext cx="76200" cy="1168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7379BF9-D7A1-21FA-4CD4-65B50479171D}"/>
              </a:ext>
            </a:extLst>
          </p:cNvPr>
          <p:cNvSpPr txBox="1"/>
          <p:nvPr/>
        </p:nvSpPr>
        <p:spPr>
          <a:xfrm>
            <a:off x="8255000" y="3708400"/>
            <a:ext cx="2413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06.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需要其他专题协助的问题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03BA02B-DF2A-26D5-6955-E6CC628DD496}"/>
              </a:ext>
            </a:extLst>
          </p:cNvPr>
          <p:cNvSpPr txBox="1"/>
          <p:nvPr/>
        </p:nvSpPr>
        <p:spPr>
          <a:xfrm>
            <a:off x="8255000" y="40894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9870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541492-8632-1E94-5827-28892A1CC0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385716-36F3-D59C-66F9-05B092596C84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22EEB5-2AFB-184E-95FD-8273F3A32321}"/>
              </a:ext>
            </a:extLst>
          </p:cNvPr>
          <p:cNvSpPr txBox="1"/>
          <p:nvPr/>
        </p:nvSpPr>
        <p:spPr>
          <a:xfrm>
            <a:off x="558800" y="355600"/>
            <a:ext cx="711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系统定位：从演示页面走向数据工作台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0B638A-6348-DA60-1F7C-26525C348977}"/>
              </a:ext>
            </a:extLst>
          </p:cNvPr>
          <p:cNvSpPr txBox="1"/>
          <p:nvPr/>
        </p:nvSpPr>
        <p:spPr>
          <a:xfrm>
            <a:off x="558800" y="8890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以真实数据展示与可操作检索为核心，而不是单纯做汇报页面。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765C20D-E10F-F794-C0FD-7AF2E5CDAB7C}"/>
              </a:ext>
            </a:extLst>
          </p:cNvPr>
          <p:cNvSpPr/>
          <p:nvPr/>
        </p:nvSpPr>
        <p:spPr>
          <a:xfrm>
            <a:off x="762000" y="1651000"/>
            <a:ext cx="3238500" cy="1905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4761B1-BA34-4C5A-09D9-7FBBC4344845}"/>
              </a:ext>
            </a:extLst>
          </p:cNvPr>
          <p:cNvSpPr/>
          <p:nvPr/>
        </p:nvSpPr>
        <p:spPr>
          <a:xfrm>
            <a:off x="762000" y="1651000"/>
            <a:ext cx="76200" cy="19050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23F531-536C-D604-3464-D8B80424D984}"/>
              </a:ext>
            </a:extLst>
          </p:cNvPr>
          <p:cNvSpPr txBox="1"/>
          <p:nvPr/>
        </p:nvSpPr>
        <p:spPr>
          <a:xfrm>
            <a:off x="990600" y="1854200"/>
            <a:ext cx="2857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面向对象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5FD024-B190-2C39-1C11-08267BF0F9EA}"/>
              </a:ext>
            </a:extLst>
          </p:cNvPr>
          <p:cNvSpPr txBox="1"/>
          <p:nvPr/>
        </p:nvSpPr>
        <p:spPr>
          <a:xfrm>
            <a:off x="990600" y="2235200"/>
            <a:ext cx="28575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围绕盆地对象、井位对象和井专题资料组织展示，支持从空间位置进入业务属性。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801FA64-4F29-5FD2-0306-89E6269D401A}"/>
              </a:ext>
            </a:extLst>
          </p:cNvPr>
          <p:cNvSpPr/>
          <p:nvPr/>
        </p:nvSpPr>
        <p:spPr>
          <a:xfrm>
            <a:off x="4470400" y="1651000"/>
            <a:ext cx="3238500" cy="1905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B2724B-A45A-8CDE-80F1-8551433E854A}"/>
              </a:ext>
            </a:extLst>
          </p:cNvPr>
          <p:cNvSpPr/>
          <p:nvPr/>
        </p:nvSpPr>
        <p:spPr>
          <a:xfrm>
            <a:off x="4470400" y="1651000"/>
            <a:ext cx="76200" cy="1905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9767314-D9B1-AE8F-E05F-45A7DA2624D0}"/>
              </a:ext>
            </a:extLst>
          </p:cNvPr>
          <p:cNvSpPr txBox="1"/>
          <p:nvPr/>
        </p:nvSpPr>
        <p:spPr>
          <a:xfrm>
            <a:off x="4699000" y="1854200"/>
            <a:ext cx="2857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面向服务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C11B66-3913-F46A-EA4C-2EC0D9F5DDE9}"/>
              </a:ext>
            </a:extLst>
          </p:cNvPr>
          <p:cNvSpPr txBox="1"/>
          <p:nvPr/>
        </p:nvSpPr>
        <p:spPr>
          <a:xfrm>
            <a:off x="4699000" y="2235200"/>
            <a:ext cx="28575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优先接入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MapGIS IGServer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已发布的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FeatureServer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服务，避免前端直接读取散落的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shp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文件。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14B8AF-EFFB-EAF6-A173-25812F0F58C3}"/>
              </a:ext>
            </a:extLst>
          </p:cNvPr>
          <p:cNvSpPr/>
          <p:nvPr/>
        </p:nvSpPr>
        <p:spPr>
          <a:xfrm>
            <a:off x="8178800" y="1651000"/>
            <a:ext cx="3238500" cy="1905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0F879C-5A72-253D-FED6-979D2EB1C43E}"/>
              </a:ext>
            </a:extLst>
          </p:cNvPr>
          <p:cNvSpPr/>
          <p:nvPr/>
        </p:nvSpPr>
        <p:spPr>
          <a:xfrm>
            <a:off x="8178800" y="1651000"/>
            <a:ext cx="76200" cy="1905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C453CC-48E4-5B18-2539-FD6DBC0DF496}"/>
              </a:ext>
            </a:extLst>
          </p:cNvPr>
          <p:cNvSpPr txBox="1"/>
          <p:nvPr/>
        </p:nvSpPr>
        <p:spPr>
          <a:xfrm>
            <a:off x="8407400" y="1854200"/>
            <a:ext cx="2857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面向扩展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86CD3F-7C99-7745-8E1E-E946334C9938}"/>
              </a:ext>
            </a:extLst>
          </p:cNvPr>
          <p:cNvSpPr txBox="1"/>
          <p:nvPr/>
        </p:nvSpPr>
        <p:spPr>
          <a:xfrm>
            <a:off x="8407400" y="2235200"/>
            <a:ext cx="28575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保留本地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JSON/CSV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回退能力，后续可平滑扩展到数据库、权限、曲线文件和更多专题表。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9163DFE-F42E-67C5-4F71-B674BD89B445}"/>
              </a:ext>
            </a:extLst>
          </p:cNvPr>
          <p:cNvSpPr txBox="1"/>
          <p:nvPr/>
        </p:nvSpPr>
        <p:spPr>
          <a:xfrm>
            <a:off x="965200" y="4191000"/>
            <a:ext cx="100330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B4C68"/>
                </a:solidFill>
                <a:latin typeface="Microsoft YaHei" panose="020B0503020204020204" pitchFamily="34" charset="-122"/>
              </a:rPr>
              <a:t>当前已不再以会议材料为主线，而是以数据检索、地图联动、井</a:t>
            </a:r>
            <a:r>
              <a:rPr lang="en-US" altLang="zh-CN" sz="1500">
                <a:solidFill>
                  <a:srgbClr val="3B4C6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3B4C68"/>
                </a:solidFill>
                <a:latin typeface="Microsoft YaHei" panose="020B0503020204020204" pitchFamily="34" charset="-122"/>
              </a:rPr>
              <a:t>盆地详情为主线。</a:t>
            </a:r>
          </a:p>
          <a:p>
            <a:pPr>
              <a:spcAft>
                <a:spcPts val="600"/>
              </a:spcAft>
            </a:pPr>
            <a:r>
              <a:rPr lang="en-US" altLang="zh-CN" sz="15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3B4C68"/>
                </a:solidFill>
                <a:latin typeface="Microsoft YaHei" panose="020B0503020204020204" pitchFamily="34" charset="-122"/>
              </a:rPr>
              <a:t>系统支持先小规模接入真实数据，再逐步拓展为完整业务平台。</a:t>
            </a:r>
          </a:p>
        </p:txBody>
      </p:sp>
    </p:spTree>
    <p:extLst>
      <p:ext uri="{BB962C8B-B14F-4D97-AF65-F5344CB8AC3E}">
        <p14:creationId xmlns:p14="http://schemas.microsoft.com/office/powerpoint/2010/main" val="270302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1A7006-E2B4-FF8C-6010-51345F0E3B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034692-1D48-450A-D502-46C3C71E16F5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DE1144-C6A9-6345-EFE3-96AA98CF9321}"/>
              </a:ext>
            </a:extLst>
          </p:cNvPr>
          <p:cNvSpPr txBox="1"/>
          <p:nvPr/>
        </p:nvSpPr>
        <p:spPr>
          <a:xfrm>
            <a:off x="558800" y="355600"/>
            <a:ext cx="7112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总体架构：数据源 → </a:t>
            </a:r>
            <a:r>
              <a:rPr lang="en-US" altLang="zh-CN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MapGIS </a:t>
            </a:r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服务 → 前后端联通 → 展示工作台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E24C5B-B4B7-1C06-3F8F-EA72DF3417E7}"/>
              </a:ext>
            </a:extLst>
          </p:cNvPr>
          <p:cNvSpPr txBox="1"/>
          <p:nvPr/>
        </p:nvSpPr>
        <p:spPr>
          <a:xfrm>
            <a:off x="558800" y="8890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核心目标是让空间数据和表格资料能够统一进入前端展示。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46E8D04-D09F-8DED-4A7D-6214B83D2F60}"/>
              </a:ext>
            </a:extLst>
          </p:cNvPr>
          <p:cNvSpPr/>
          <p:nvPr/>
        </p:nvSpPr>
        <p:spPr>
          <a:xfrm>
            <a:off x="660400" y="1905000"/>
            <a:ext cx="2286000" cy="1905000"/>
          </a:xfrm>
          <a:prstGeom prst="roundRect">
            <a:avLst/>
          </a:prstGeom>
          <a:solidFill>
            <a:srgbClr val="E8F1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829369-AB24-9B1A-0921-CE21B83B8712}"/>
              </a:ext>
            </a:extLst>
          </p:cNvPr>
          <p:cNvSpPr txBox="1"/>
          <p:nvPr/>
        </p:nvSpPr>
        <p:spPr>
          <a:xfrm>
            <a:off x="812800" y="20320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数据源层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9C7BD5-D5C2-5F45-4175-5F6F61431CC8}"/>
              </a:ext>
            </a:extLst>
          </p:cNvPr>
          <p:cNvSpPr txBox="1"/>
          <p:nvPr/>
        </p:nvSpPr>
        <p:spPr>
          <a:xfrm>
            <a:off x="812800" y="2336800"/>
            <a:ext cx="1981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Wells.shp / Main_Basins.shp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井表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Excel 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盆地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Excel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样例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well_logs.csv</a:t>
            </a:r>
            <a:endParaRPr lang="zh-CN" altLang="en-US" sz="900">
              <a:solidFill>
                <a:srgbClr val="46587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1850DD9-EC37-9807-F824-2D8BE736A610}"/>
              </a:ext>
            </a:extLst>
          </p:cNvPr>
          <p:cNvCxnSpPr/>
          <p:nvPr/>
        </p:nvCxnSpPr>
        <p:spPr>
          <a:xfrm>
            <a:off x="3073400" y="2857500"/>
            <a:ext cx="685800" cy="0"/>
          </a:xfrm>
          <a:prstGeom prst="line">
            <a:avLst/>
          </a:prstGeom>
          <a:ln w="28575">
            <a:solidFill>
              <a:srgbClr val="205E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453CE20-BEC3-584E-7A12-D8082C3D9A02}"/>
              </a:ext>
            </a:extLst>
          </p:cNvPr>
          <p:cNvSpPr/>
          <p:nvPr/>
        </p:nvSpPr>
        <p:spPr>
          <a:xfrm>
            <a:off x="3886200" y="1905000"/>
            <a:ext cx="2286000" cy="1905000"/>
          </a:xfrm>
          <a:prstGeom prst="roundRect">
            <a:avLst/>
          </a:prstGeom>
          <a:solidFill>
            <a:srgbClr val="E8F7F2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EDF250-F6F8-390F-5421-E03BBB4ADBC9}"/>
              </a:ext>
            </a:extLst>
          </p:cNvPr>
          <p:cNvSpPr txBox="1"/>
          <p:nvPr/>
        </p:nvSpPr>
        <p:spPr>
          <a:xfrm>
            <a:off x="4038600" y="20320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GIS </a:t>
            </a:r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服务层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F42B6B5-2A0C-8D4F-9078-C372EC1F5717}"/>
              </a:ext>
            </a:extLst>
          </p:cNvPr>
          <p:cNvSpPr txBox="1"/>
          <p:nvPr/>
        </p:nvSpPr>
        <p:spPr>
          <a:xfrm>
            <a:off x="4038600" y="2336800"/>
            <a:ext cx="1981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MapGIS IGServer</a:t>
            </a:r>
          </a:p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wells FeatureServer</a:t>
            </a:r>
          </a:p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main_basins FeatureServer</a:t>
            </a:r>
            <a:endParaRPr lang="zh-CN" altLang="en-US" sz="900">
              <a:solidFill>
                <a:srgbClr val="46587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86073DE-4C1D-7906-E71F-2B73EE733110}"/>
              </a:ext>
            </a:extLst>
          </p:cNvPr>
          <p:cNvCxnSpPr/>
          <p:nvPr/>
        </p:nvCxnSpPr>
        <p:spPr>
          <a:xfrm>
            <a:off x="6299200" y="2857500"/>
            <a:ext cx="685800" cy="0"/>
          </a:xfrm>
          <a:prstGeom prst="line">
            <a:avLst/>
          </a:prstGeom>
          <a:ln w="28575">
            <a:solidFill>
              <a:srgbClr val="205E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5EA69D4-F7FC-7319-B3A4-E373DDFC4A66}"/>
              </a:ext>
            </a:extLst>
          </p:cNvPr>
          <p:cNvSpPr/>
          <p:nvPr/>
        </p:nvSpPr>
        <p:spPr>
          <a:xfrm>
            <a:off x="7112000" y="1905000"/>
            <a:ext cx="2286000" cy="1905000"/>
          </a:xfrm>
          <a:prstGeom prst="roundRect">
            <a:avLst/>
          </a:prstGeom>
          <a:solidFill>
            <a:srgbClr val="FFF7DC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DF7090-52B5-A831-87BC-814D0745A791}"/>
              </a:ext>
            </a:extLst>
          </p:cNvPr>
          <p:cNvSpPr txBox="1"/>
          <p:nvPr/>
        </p:nvSpPr>
        <p:spPr>
          <a:xfrm>
            <a:off x="7264400" y="20320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联通层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8B7815E-93C8-604D-9099-38F7BD157F16}"/>
              </a:ext>
            </a:extLst>
          </p:cNvPr>
          <p:cNvSpPr txBox="1"/>
          <p:nvPr/>
        </p:nvSpPr>
        <p:spPr>
          <a:xfrm>
            <a:off x="7264400" y="2336800"/>
            <a:ext cx="1981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Node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静态服务</a:t>
            </a:r>
          </a:p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/igs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代理</a:t>
            </a:r>
          </a:p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JSON/CSV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配置读取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0C9E574-005D-7A28-F9E0-82084EE99CCC}"/>
              </a:ext>
            </a:extLst>
          </p:cNvPr>
          <p:cNvCxnSpPr/>
          <p:nvPr/>
        </p:nvCxnSpPr>
        <p:spPr>
          <a:xfrm>
            <a:off x="9525000" y="2857500"/>
            <a:ext cx="685800" cy="0"/>
          </a:xfrm>
          <a:prstGeom prst="line">
            <a:avLst/>
          </a:prstGeom>
          <a:ln w="28575">
            <a:solidFill>
              <a:srgbClr val="205E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787EA88-5340-66F8-242E-3413AE55B2F8}"/>
              </a:ext>
            </a:extLst>
          </p:cNvPr>
          <p:cNvSpPr/>
          <p:nvPr/>
        </p:nvSpPr>
        <p:spPr>
          <a:xfrm>
            <a:off x="10337800" y="1905000"/>
            <a:ext cx="1524000" cy="1905000"/>
          </a:xfrm>
          <a:prstGeom prst="roundRect">
            <a:avLst/>
          </a:prstGeom>
          <a:solidFill>
            <a:srgbClr val="F6EF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9739062-DC01-DFB4-CB90-DDAC88E9ABB3}"/>
              </a:ext>
            </a:extLst>
          </p:cNvPr>
          <p:cNvSpPr txBox="1"/>
          <p:nvPr/>
        </p:nvSpPr>
        <p:spPr>
          <a:xfrm>
            <a:off x="10490200" y="2032000"/>
            <a:ext cx="1219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前端展示层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D6545A-0A21-5B91-D664-7003250506F2}"/>
              </a:ext>
            </a:extLst>
          </p:cNvPr>
          <p:cNvSpPr txBox="1"/>
          <p:nvPr/>
        </p:nvSpPr>
        <p:spPr>
          <a:xfrm>
            <a:off x="10490200" y="2336800"/>
            <a:ext cx="1219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地图工作台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井资料与曲线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数据目录与服务状态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36A0777-D840-C254-779F-FCD1B0780ED7}"/>
              </a:ext>
            </a:extLst>
          </p:cNvPr>
          <p:cNvSpPr/>
          <p:nvPr/>
        </p:nvSpPr>
        <p:spPr>
          <a:xfrm>
            <a:off x="1168400" y="4495800"/>
            <a:ext cx="9906000" cy="1041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A446440-387C-4415-A30C-8F5E34EC2FF0}"/>
              </a:ext>
            </a:extLst>
          </p:cNvPr>
          <p:cNvSpPr/>
          <p:nvPr/>
        </p:nvSpPr>
        <p:spPr>
          <a:xfrm>
            <a:off x="1168400" y="4495800"/>
            <a:ext cx="76200" cy="1041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5D2C3CF-23A2-4313-6989-10A4ED773361}"/>
              </a:ext>
            </a:extLst>
          </p:cNvPr>
          <p:cNvSpPr txBox="1"/>
          <p:nvPr/>
        </p:nvSpPr>
        <p:spPr>
          <a:xfrm>
            <a:off x="1397000" y="4699000"/>
            <a:ext cx="952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设计要点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E739E22-9799-E598-1BBD-1BCC7330DB23}"/>
              </a:ext>
            </a:extLst>
          </p:cNvPr>
          <p:cNvSpPr txBox="1"/>
          <p:nvPr/>
        </p:nvSpPr>
        <p:spPr>
          <a:xfrm>
            <a:off x="1397000" y="5080000"/>
            <a:ext cx="952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服务优先、本地回退；空间对象和表格资料分层管理；前端以筛选、定位、详情联动作为主要交互。</a:t>
            </a:r>
          </a:p>
        </p:txBody>
      </p:sp>
    </p:spTree>
    <p:extLst>
      <p:ext uri="{BB962C8B-B14F-4D97-AF65-F5344CB8AC3E}">
        <p14:creationId xmlns:p14="http://schemas.microsoft.com/office/powerpoint/2010/main" val="4108386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D2B61A-1AB9-1E30-4F34-E0269BDCAA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DCBBCD-D439-CF32-0823-FF8E14E6C013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1EB49A-B186-D03D-9EF5-FE8D789B9A35}"/>
              </a:ext>
            </a:extLst>
          </p:cNvPr>
          <p:cNvSpPr txBox="1"/>
          <p:nvPr/>
        </p:nvSpPr>
        <p:spPr>
          <a:xfrm>
            <a:off x="558800" y="355600"/>
            <a:ext cx="711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数据链路：</a:t>
            </a:r>
            <a:r>
              <a:rPr lang="en-US" altLang="zh-CN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Shapefile </a:t>
            </a:r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的组合使用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3DEB9F-BA29-20AB-AF24-ECB75CC5A021}"/>
              </a:ext>
            </a:extLst>
          </p:cNvPr>
          <p:cNvSpPr txBox="1"/>
          <p:nvPr/>
        </p:nvSpPr>
        <p:spPr>
          <a:xfrm>
            <a:off x="558800" y="8890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空间边界由 </a:t>
            </a:r>
            <a:r>
              <a:rPr lang="en-US" altLang="zh-CN" sz="1100">
                <a:solidFill>
                  <a:srgbClr val="5B6F89"/>
                </a:solidFill>
                <a:latin typeface="Microsoft YaHei" panose="020B0503020204020204" pitchFamily="34" charset="-122"/>
              </a:rPr>
              <a:t>MapGIS </a:t>
            </a:r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服务提供，专题属性由 </a:t>
            </a:r>
            <a:r>
              <a:rPr lang="en-US" altLang="zh-CN" sz="1100">
                <a:solidFill>
                  <a:srgbClr val="5B6F89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整理结果补充。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521A75E-49B0-D217-19A7-786B56E5A44C}"/>
              </a:ext>
            </a:extLst>
          </p:cNvPr>
          <p:cNvSpPr/>
          <p:nvPr/>
        </p:nvSpPr>
        <p:spPr>
          <a:xfrm>
            <a:off x="787400" y="1651000"/>
            <a:ext cx="3302000" cy="2032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3FF18B-22F4-A187-35B8-91AC0470261E}"/>
              </a:ext>
            </a:extLst>
          </p:cNvPr>
          <p:cNvSpPr/>
          <p:nvPr/>
        </p:nvSpPr>
        <p:spPr>
          <a:xfrm>
            <a:off x="787400" y="1651000"/>
            <a:ext cx="76200" cy="20320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8F7F9E-E276-BF5E-D9F9-5B6815805A52}"/>
              </a:ext>
            </a:extLst>
          </p:cNvPr>
          <p:cNvSpPr txBox="1"/>
          <p:nvPr/>
        </p:nvSpPr>
        <p:spPr>
          <a:xfrm>
            <a:off x="1016000" y="18542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空间数据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955706-096E-DF68-84D5-CCC53E87B7A9}"/>
              </a:ext>
            </a:extLst>
          </p:cNvPr>
          <p:cNvSpPr txBox="1"/>
          <p:nvPr/>
        </p:nvSpPr>
        <p:spPr>
          <a:xfrm>
            <a:off x="1016000" y="2235200"/>
            <a:ext cx="2921000" cy="56425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井位：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Wells.shp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，点要素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盆地：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Main_Basins.shp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，面要素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发布：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MapGIS IGServer FeatureServer</a:t>
            </a: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68091DE-0824-9945-1A97-C689C11E0AF9}"/>
              </a:ext>
            </a:extLst>
          </p:cNvPr>
          <p:cNvSpPr/>
          <p:nvPr/>
        </p:nvSpPr>
        <p:spPr>
          <a:xfrm>
            <a:off x="4445000" y="1651000"/>
            <a:ext cx="3302000" cy="2032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6D6A2E-C29D-6A12-1671-C23CE3CF4CED}"/>
              </a:ext>
            </a:extLst>
          </p:cNvPr>
          <p:cNvSpPr/>
          <p:nvPr/>
        </p:nvSpPr>
        <p:spPr>
          <a:xfrm>
            <a:off x="4445000" y="1651000"/>
            <a:ext cx="76200" cy="2032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54D252-2445-EEF9-A44E-5E1C5399F4DE}"/>
              </a:ext>
            </a:extLst>
          </p:cNvPr>
          <p:cNvSpPr txBox="1"/>
          <p:nvPr/>
        </p:nvSpPr>
        <p:spPr>
          <a:xfrm>
            <a:off x="4673600" y="18542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井专题表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3316BFC-8DB1-2EDC-14A3-C82CDF5CDFCE}"/>
              </a:ext>
            </a:extLst>
          </p:cNvPr>
          <p:cNvSpPr txBox="1"/>
          <p:nvPr/>
        </p:nvSpPr>
        <p:spPr>
          <a:xfrm>
            <a:off x="4673600" y="2235200"/>
            <a:ext cx="2921000" cy="7181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表数量：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21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个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数据行：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663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行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包括：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Basic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General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History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Tests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Tops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Deviation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Checkshot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Costs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CF1F278-0A0D-0E95-CA35-843616B6D78F}"/>
              </a:ext>
            </a:extLst>
          </p:cNvPr>
          <p:cNvSpPr/>
          <p:nvPr/>
        </p:nvSpPr>
        <p:spPr>
          <a:xfrm>
            <a:off x="8102600" y="1651000"/>
            <a:ext cx="3302000" cy="2032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199A69-F8CE-41DB-BC7E-D46119B49471}"/>
              </a:ext>
            </a:extLst>
          </p:cNvPr>
          <p:cNvSpPr/>
          <p:nvPr/>
        </p:nvSpPr>
        <p:spPr>
          <a:xfrm>
            <a:off x="8102600" y="1651000"/>
            <a:ext cx="76200" cy="2032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2ED73D4-6F10-7D5B-8D78-0C09327A7F44}"/>
              </a:ext>
            </a:extLst>
          </p:cNvPr>
          <p:cNvSpPr txBox="1"/>
          <p:nvPr/>
        </p:nvSpPr>
        <p:spPr>
          <a:xfrm>
            <a:off x="8331200" y="18542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盆地专题表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F7C5843-5116-EE35-54C4-300E20D951AF}"/>
              </a:ext>
            </a:extLst>
          </p:cNvPr>
          <p:cNvSpPr txBox="1"/>
          <p:nvPr/>
        </p:nvSpPr>
        <p:spPr>
          <a:xfrm>
            <a:off x="8331200" y="2235200"/>
            <a:ext cx="2921000" cy="7181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表数量：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11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个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数据行：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2457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行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包括：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Basic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General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Images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Reserves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Petroleum System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Play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Lithostratigraphic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等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940EA43-C0B8-707B-8530-BACEAE337406}"/>
              </a:ext>
            </a:extLst>
          </p:cNvPr>
          <p:cNvSpPr/>
          <p:nvPr/>
        </p:nvSpPr>
        <p:spPr>
          <a:xfrm>
            <a:off x="1168400" y="4368800"/>
            <a:ext cx="9906000" cy="1143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11DE3A-E0CD-E374-4421-A6B6E9E57835}"/>
              </a:ext>
            </a:extLst>
          </p:cNvPr>
          <p:cNvSpPr/>
          <p:nvPr/>
        </p:nvSpPr>
        <p:spPr>
          <a:xfrm>
            <a:off x="1168400" y="4368800"/>
            <a:ext cx="76200" cy="1143000"/>
          </a:xfrm>
          <a:prstGeom prst="rect">
            <a:avLst/>
          </a:prstGeom>
          <a:solidFill>
            <a:srgbClr val="6D28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6F0A8D5-EE18-268C-14F3-25AC2F9078D5}"/>
              </a:ext>
            </a:extLst>
          </p:cNvPr>
          <p:cNvSpPr txBox="1"/>
          <p:nvPr/>
        </p:nvSpPr>
        <p:spPr>
          <a:xfrm>
            <a:off x="1397000" y="4572000"/>
            <a:ext cx="952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当前处理策略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7A8910-96DC-D9C0-15DF-A18030CC3CFA}"/>
              </a:ext>
            </a:extLst>
          </p:cNvPr>
          <p:cNvSpPr txBox="1"/>
          <p:nvPr/>
        </p:nvSpPr>
        <p:spPr>
          <a:xfrm>
            <a:off x="1397000" y="4953000"/>
            <a:ext cx="952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前端优先读取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MapGIS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服务中的几何与核心字段；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整理为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JSON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后用于井档案、井史、井测试、地层与盆地专题资料展示。</a:t>
            </a:r>
          </a:p>
        </p:txBody>
      </p:sp>
    </p:spTree>
    <p:extLst>
      <p:ext uri="{BB962C8B-B14F-4D97-AF65-F5344CB8AC3E}">
        <p14:creationId xmlns:p14="http://schemas.microsoft.com/office/powerpoint/2010/main" val="1184593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7984CE4-3CFC-B9BE-8F9E-17906F529B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06DAF3-3395-6E78-E223-7E12620CD66D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BED8F2-78BE-0F88-3BE7-33E6366B8872}"/>
              </a:ext>
            </a:extLst>
          </p:cNvPr>
          <p:cNvSpPr txBox="1"/>
          <p:nvPr/>
        </p:nvSpPr>
        <p:spPr>
          <a:xfrm>
            <a:off x="558800" y="355600"/>
            <a:ext cx="711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技术实现路径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3CD065-0B4F-CA35-5DE9-3B0FD4117216}"/>
              </a:ext>
            </a:extLst>
          </p:cNvPr>
          <p:cNvSpPr txBox="1"/>
          <p:nvPr/>
        </p:nvSpPr>
        <p:spPr>
          <a:xfrm>
            <a:off x="558800" y="8890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当前采用轻量化 </a:t>
            </a:r>
            <a:r>
              <a:rPr lang="en-US" altLang="zh-CN" sz="1100">
                <a:solidFill>
                  <a:srgbClr val="5B6F89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方案，重点验证数据链路与业务展示闭环。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F0B7821-D9C8-1815-40EB-F15843CDD7D3}"/>
              </a:ext>
            </a:extLst>
          </p:cNvPr>
          <p:cNvSpPr/>
          <p:nvPr/>
        </p:nvSpPr>
        <p:spPr>
          <a:xfrm>
            <a:off x="787400" y="1600200"/>
            <a:ext cx="3175000" cy="2413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E97DC8-F5AF-2E33-ADE5-A0388BE73384}"/>
              </a:ext>
            </a:extLst>
          </p:cNvPr>
          <p:cNvSpPr/>
          <p:nvPr/>
        </p:nvSpPr>
        <p:spPr>
          <a:xfrm>
            <a:off x="787400" y="1600200"/>
            <a:ext cx="76200" cy="24130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2DE8A9-AA8D-DAC6-845B-83868480CAD5}"/>
              </a:ext>
            </a:extLst>
          </p:cNvPr>
          <p:cNvSpPr txBox="1"/>
          <p:nvPr/>
        </p:nvSpPr>
        <p:spPr>
          <a:xfrm>
            <a:off x="1016000" y="18034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前端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9DED05-32B8-4310-4884-5F305F2C1E38}"/>
              </a:ext>
            </a:extLst>
          </p:cNvPr>
          <p:cNvSpPr txBox="1"/>
          <p:nvPr/>
        </p:nvSpPr>
        <p:spPr>
          <a:xfrm>
            <a:off x="1016000" y="2184400"/>
            <a:ext cx="27940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HTML / CSS / JavaScript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Leaflet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@mapgis/webclient-leaflet-plugin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天地图底图叠加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BCCF594-1251-60EF-AD9F-5259B05B3E07}"/>
              </a:ext>
            </a:extLst>
          </p:cNvPr>
          <p:cNvSpPr/>
          <p:nvPr/>
        </p:nvSpPr>
        <p:spPr>
          <a:xfrm>
            <a:off x="4495800" y="1600200"/>
            <a:ext cx="3175000" cy="2413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9901A2-B3C5-06D6-3150-C1AD2261B518}"/>
              </a:ext>
            </a:extLst>
          </p:cNvPr>
          <p:cNvSpPr/>
          <p:nvPr/>
        </p:nvSpPr>
        <p:spPr>
          <a:xfrm>
            <a:off x="4495800" y="1600200"/>
            <a:ext cx="76200" cy="2413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9477AD-1937-9F1C-B5F9-D4721909692B}"/>
              </a:ext>
            </a:extLst>
          </p:cNvPr>
          <p:cNvSpPr txBox="1"/>
          <p:nvPr/>
        </p:nvSpPr>
        <p:spPr>
          <a:xfrm>
            <a:off x="4724400" y="18034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服务代理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FDFA17A-7A7C-C181-950F-F85677DDA854}"/>
              </a:ext>
            </a:extLst>
          </p:cNvPr>
          <p:cNvSpPr txBox="1"/>
          <p:nvPr/>
        </p:nvSpPr>
        <p:spPr>
          <a:xfrm>
            <a:off x="4724400" y="2184400"/>
            <a:ext cx="2794000" cy="56425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Node.js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静态服务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/igs/*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代理到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localhost:8089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避免浏览器跨域和路径配置混乱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87BC8AA-4AEE-2FDB-B210-86E37D609B86}"/>
              </a:ext>
            </a:extLst>
          </p:cNvPr>
          <p:cNvSpPr/>
          <p:nvPr/>
        </p:nvSpPr>
        <p:spPr>
          <a:xfrm>
            <a:off x="8204200" y="1600200"/>
            <a:ext cx="3175000" cy="2413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158F24-DE02-9554-1928-53E9A1A96AC5}"/>
              </a:ext>
            </a:extLst>
          </p:cNvPr>
          <p:cNvSpPr/>
          <p:nvPr/>
        </p:nvSpPr>
        <p:spPr>
          <a:xfrm>
            <a:off x="8204200" y="1600200"/>
            <a:ext cx="76200" cy="2413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D22C97-CC58-525C-39C8-82A52FFC3415}"/>
              </a:ext>
            </a:extLst>
          </p:cNvPr>
          <p:cNvSpPr txBox="1"/>
          <p:nvPr/>
        </p:nvSpPr>
        <p:spPr>
          <a:xfrm>
            <a:off x="8432800" y="18034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MapGIS</a:t>
            </a:r>
            <a:endParaRPr lang="zh-CN" altLang="en-US" sz="1500" b="1">
              <a:solidFill>
                <a:srgbClr val="142F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DA0E24-D44A-3769-4714-432546E6D604}"/>
              </a:ext>
            </a:extLst>
          </p:cNvPr>
          <p:cNvSpPr txBox="1"/>
          <p:nvPr/>
        </p:nvSpPr>
        <p:spPr>
          <a:xfrm>
            <a:off x="8432800" y="2184400"/>
            <a:ext cx="27940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IGServer Java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FeatureServer/query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坐标系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EPSG:3857 →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前端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EPSG:4326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服务不可用时回退本地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GeoJSON</a:t>
            </a:r>
            <a:endParaRPr lang="zh-CN" altLang="en-US" sz="1000">
              <a:solidFill>
                <a:srgbClr val="5B6F8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57CFB1-BE6F-45C3-F7F0-6C1B04AA81A2}"/>
              </a:ext>
            </a:extLst>
          </p:cNvPr>
          <p:cNvSpPr txBox="1"/>
          <p:nvPr/>
        </p:nvSpPr>
        <p:spPr>
          <a:xfrm>
            <a:off x="1117600" y="4648200"/>
            <a:ext cx="99060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当前系统更适合做数据链路验证和功能原型扩展。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后续工程化时可迁移到 </a:t>
            </a: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Vue/React +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数据库 </a:t>
            </a: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权限体系。</a:t>
            </a:r>
          </a:p>
        </p:txBody>
      </p:sp>
    </p:spTree>
    <p:extLst>
      <p:ext uri="{BB962C8B-B14F-4D97-AF65-F5344CB8AC3E}">
        <p14:creationId xmlns:p14="http://schemas.microsoft.com/office/powerpoint/2010/main" val="2211228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09A189D-699F-CC26-09EA-073338DF80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97406-F883-1F78-7B90-D3CB04968FA2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A7ECB6-5463-390D-2F5B-661B52C67915}"/>
              </a:ext>
            </a:extLst>
          </p:cNvPr>
          <p:cNvSpPr txBox="1"/>
          <p:nvPr/>
        </p:nvSpPr>
        <p:spPr>
          <a:xfrm>
            <a:off x="558800" y="355600"/>
            <a:ext cx="711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功能展示一：地图工作台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CBC82E-7DF7-D209-B7A5-6F84DC1AA601}"/>
              </a:ext>
            </a:extLst>
          </p:cNvPr>
          <p:cNvSpPr txBox="1"/>
          <p:nvPr/>
        </p:nvSpPr>
        <p:spPr>
          <a:xfrm>
            <a:off x="558800" y="8890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左侧筛选，中间地图，右侧对象详情，形成可操作的 </a:t>
            </a:r>
            <a:r>
              <a:rPr lang="en-US" altLang="zh-CN" sz="1100">
                <a:solidFill>
                  <a:srgbClr val="5B6F89"/>
                </a:solidFill>
                <a:latin typeface="Microsoft YaHei" panose="020B0503020204020204" pitchFamily="34" charset="-122"/>
              </a:rPr>
              <a:t>GIS </a:t>
            </a:r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数据工作台。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C117BD1-21A8-C44C-8A1D-9795F68704E8}"/>
              </a:ext>
            </a:extLst>
          </p:cNvPr>
          <p:cNvSpPr/>
          <p:nvPr/>
        </p:nvSpPr>
        <p:spPr>
          <a:xfrm>
            <a:off x="762000" y="1803400"/>
            <a:ext cx="2286000" cy="2413000"/>
          </a:xfrm>
          <a:prstGeom prst="roundRect">
            <a:avLst/>
          </a:prstGeom>
          <a:solidFill>
            <a:srgbClr val="E8F1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FD5E29-CB3A-2848-A590-8E622344DD20}"/>
              </a:ext>
            </a:extLst>
          </p:cNvPr>
          <p:cNvSpPr txBox="1"/>
          <p:nvPr/>
        </p:nvSpPr>
        <p:spPr>
          <a:xfrm>
            <a:off x="914400" y="1930400"/>
            <a:ext cx="1981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左侧筛选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DD0054-FD73-0219-DB19-69C0CDFEE169}"/>
              </a:ext>
            </a:extLst>
          </p:cNvPr>
          <p:cNvSpPr txBox="1"/>
          <p:nvPr/>
        </p:nvSpPr>
        <p:spPr>
          <a:xfrm>
            <a:off x="914400" y="2235200"/>
            <a:ext cx="19812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关键字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国家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盆地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作业者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快速定位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FC73515-12FC-6D65-82FB-2530A97739A6}"/>
              </a:ext>
            </a:extLst>
          </p:cNvPr>
          <p:cNvSpPr/>
          <p:nvPr/>
        </p:nvSpPr>
        <p:spPr>
          <a:xfrm>
            <a:off x="3556000" y="1498600"/>
            <a:ext cx="4572000" cy="3022600"/>
          </a:xfrm>
          <a:prstGeom prst="roundRect">
            <a:avLst/>
          </a:prstGeom>
          <a:solidFill>
            <a:srgbClr val="E8F7F2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FECC27-EFD6-FC60-AD4C-5C292D0967C2}"/>
              </a:ext>
            </a:extLst>
          </p:cNvPr>
          <p:cNvSpPr txBox="1"/>
          <p:nvPr/>
        </p:nvSpPr>
        <p:spPr>
          <a:xfrm>
            <a:off x="3708400" y="1625600"/>
            <a:ext cx="4267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中间地图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C17746-CF3A-2512-ED58-73424F3A32C6}"/>
              </a:ext>
            </a:extLst>
          </p:cNvPr>
          <p:cNvSpPr txBox="1"/>
          <p:nvPr/>
        </p:nvSpPr>
        <p:spPr>
          <a:xfrm>
            <a:off x="3708400" y="1930400"/>
            <a:ext cx="4267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天地图底图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盆地面图层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井位点图层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弹窗与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tooltip</a:t>
            </a:r>
            <a:endParaRPr lang="zh-CN" altLang="en-US" sz="900">
              <a:solidFill>
                <a:srgbClr val="46587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0AA1436-75E0-3B22-24FA-CA7BF61AACA9}"/>
              </a:ext>
            </a:extLst>
          </p:cNvPr>
          <p:cNvSpPr/>
          <p:nvPr/>
        </p:nvSpPr>
        <p:spPr>
          <a:xfrm>
            <a:off x="8636000" y="1803400"/>
            <a:ext cx="2794000" cy="2413000"/>
          </a:xfrm>
          <a:prstGeom prst="roundRect">
            <a:avLst/>
          </a:prstGeom>
          <a:solidFill>
            <a:srgbClr val="FFF7DC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EA5D71-3977-40F0-6216-31BF59E169E9}"/>
              </a:ext>
            </a:extLst>
          </p:cNvPr>
          <p:cNvSpPr txBox="1"/>
          <p:nvPr/>
        </p:nvSpPr>
        <p:spPr>
          <a:xfrm>
            <a:off x="8788400" y="1930400"/>
            <a:ext cx="2489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右侧详情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71D84D-B3BB-3CA0-582F-2C633088D4E9}"/>
              </a:ext>
            </a:extLst>
          </p:cNvPr>
          <p:cNvSpPr txBox="1"/>
          <p:nvPr/>
        </p:nvSpPr>
        <p:spPr>
          <a:xfrm>
            <a:off x="8788400" y="2235200"/>
            <a:ext cx="2489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服务状态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当前选中对象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真实服务数据摘要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工作建议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A8FF92D-91A5-D495-2A02-3113D5047722}"/>
              </a:ext>
            </a:extLst>
          </p:cNvPr>
          <p:cNvSpPr/>
          <p:nvPr/>
        </p:nvSpPr>
        <p:spPr>
          <a:xfrm>
            <a:off x="1270000" y="4953000"/>
            <a:ext cx="9652000" cy="889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E7A87C-FB0B-CE00-9CF6-B8CE5D8AE95E}"/>
              </a:ext>
            </a:extLst>
          </p:cNvPr>
          <p:cNvSpPr/>
          <p:nvPr/>
        </p:nvSpPr>
        <p:spPr>
          <a:xfrm>
            <a:off x="1270000" y="4953000"/>
            <a:ext cx="76200" cy="8890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80DB41-6B9D-5280-E7E0-17F6B0CDA8BD}"/>
              </a:ext>
            </a:extLst>
          </p:cNvPr>
          <p:cNvSpPr txBox="1"/>
          <p:nvPr/>
        </p:nvSpPr>
        <p:spPr>
          <a:xfrm>
            <a:off x="1498600" y="5156200"/>
            <a:ext cx="927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展示价值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A5828F-CD00-F246-D033-B67C94728C42}"/>
              </a:ext>
            </a:extLst>
          </p:cNvPr>
          <p:cNvSpPr txBox="1"/>
          <p:nvPr/>
        </p:nvSpPr>
        <p:spPr>
          <a:xfrm>
            <a:off x="1498600" y="5537200"/>
            <a:ext cx="927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用户可以从地图上直接看到真实盆地形状和真实井位，并通过筛选与点击联动查看井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盆地属性。</a:t>
            </a:r>
          </a:p>
        </p:txBody>
      </p:sp>
    </p:spTree>
    <p:extLst>
      <p:ext uri="{BB962C8B-B14F-4D97-AF65-F5344CB8AC3E}">
        <p14:creationId xmlns:p14="http://schemas.microsoft.com/office/powerpoint/2010/main" val="4014570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C8B51A-EBEA-DFF9-D7D3-15D64F4D0F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E8041D-4687-5285-C59A-E38A2332A7B2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E88F76-C2B8-B1B5-9FD0-700CBFF88A6C}"/>
              </a:ext>
            </a:extLst>
          </p:cNvPr>
          <p:cNvSpPr txBox="1"/>
          <p:nvPr/>
        </p:nvSpPr>
        <p:spPr>
          <a:xfrm>
            <a:off x="558800" y="355600"/>
            <a:ext cx="711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功能展示二：井资料与曲线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D1E986-237D-0FBC-D2A2-108CEC3C5A98}"/>
              </a:ext>
            </a:extLst>
          </p:cNvPr>
          <p:cNvSpPr txBox="1"/>
          <p:nvPr/>
        </p:nvSpPr>
        <p:spPr>
          <a:xfrm>
            <a:off x="558800" y="8890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把井基础资料、井史事件、专题资料和测井曲线集中在一个工作区。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DED931C-DB36-4818-1D75-FA2CB7285691}"/>
              </a:ext>
            </a:extLst>
          </p:cNvPr>
          <p:cNvSpPr/>
          <p:nvPr/>
        </p:nvSpPr>
        <p:spPr>
          <a:xfrm>
            <a:off x="711200" y="1600200"/>
            <a:ext cx="3302000" cy="2159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5434D3-52C2-6870-4DD4-51F4BC7703CD}"/>
              </a:ext>
            </a:extLst>
          </p:cNvPr>
          <p:cNvSpPr/>
          <p:nvPr/>
        </p:nvSpPr>
        <p:spPr>
          <a:xfrm>
            <a:off x="711200" y="1600200"/>
            <a:ext cx="76200" cy="21590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1ACF65-46D6-B808-BF14-E4B7C78BAADE}"/>
              </a:ext>
            </a:extLst>
          </p:cNvPr>
          <p:cNvSpPr txBox="1"/>
          <p:nvPr/>
        </p:nvSpPr>
        <p:spPr>
          <a:xfrm>
            <a:off x="939800" y="18034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井档案摘要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FDB4B8-E792-1B85-1DB7-CD93D4478884}"/>
              </a:ext>
            </a:extLst>
          </p:cNvPr>
          <p:cNvSpPr txBox="1"/>
          <p:nvPr/>
        </p:nvSpPr>
        <p:spPr>
          <a:xfrm>
            <a:off x="939800" y="2184400"/>
            <a:ext cx="2921000" cy="51296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已整理井对象：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15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口</a:t>
            </a:r>
          </a:p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字段：井号、盆地、作业者、井型、技术状态、总井深、垂深、位置等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E5AE538-6FC0-1A1D-7374-F84871608FEB}"/>
              </a:ext>
            </a:extLst>
          </p:cNvPr>
          <p:cNvSpPr/>
          <p:nvPr/>
        </p:nvSpPr>
        <p:spPr>
          <a:xfrm>
            <a:off x="4445000" y="1600200"/>
            <a:ext cx="3302000" cy="2159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AD7543-8ECE-2D2E-78B6-9851438B2BD2}"/>
              </a:ext>
            </a:extLst>
          </p:cNvPr>
          <p:cNvSpPr/>
          <p:nvPr/>
        </p:nvSpPr>
        <p:spPr>
          <a:xfrm>
            <a:off x="4445000" y="1600200"/>
            <a:ext cx="76200" cy="2159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1D044F-6917-9781-F921-802AC3148F89}"/>
              </a:ext>
            </a:extLst>
          </p:cNvPr>
          <p:cNvSpPr txBox="1"/>
          <p:nvPr/>
        </p:nvSpPr>
        <p:spPr>
          <a:xfrm>
            <a:off x="4673600" y="18034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井专题资料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2D1164-82B0-4105-C611-ABBE60184805}"/>
              </a:ext>
            </a:extLst>
          </p:cNvPr>
          <p:cNvSpPr txBox="1"/>
          <p:nvPr/>
        </p:nvSpPr>
        <p:spPr>
          <a:xfrm>
            <a:off x="4673600" y="21844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井史事件、作业期次、井测试、分层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Tops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、地层导出、井斜测量、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Checkshot/VSP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、成本等。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A3BD86B-DC91-3AE1-A9F3-CD671E96A9BE}"/>
              </a:ext>
            </a:extLst>
          </p:cNvPr>
          <p:cNvSpPr/>
          <p:nvPr/>
        </p:nvSpPr>
        <p:spPr>
          <a:xfrm>
            <a:off x="8178800" y="1600200"/>
            <a:ext cx="3302000" cy="2159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F024C4-1AB0-9B73-D736-E5C53AD734C8}"/>
              </a:ext>
            </a:extLst>
          </p:cNvPr>
          <p:cNvSpPr/>
          <p:nvPr/>
        </p:nvSpPr>
        <p:spPr>
          <a:xfrm>
            <a:off x="8178800" y="1600200"/>
            <a:ext cx="76200" cy="2159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1B8786-7BE7-F9A6-8CE7-D779D84C8593}"/>
              </a:ext>
            </a:extLst>
          </p:cNvPr>
          <p:cNvSpPr txBox="1"/>
          <p:nvPr/>
        </p:nvSpPr>
        <p:spPr>
          <a:xfrm>
            <a:off x="8407400" y="18034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测井曲线区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B488E8D-98A5-4C2C-68D4-BEB5480264B8}"/>
              </a:ext>
            </a:extLst>
          </p:cNvPr>
          <p:cNvSpPr txBox="1"/>
          <p:nvPr/>
        </p:nvSpPr>
        <p:spPr>
          <a:xfrm>
            <a:off x="8407400" y="2184400"/>
            <a:ext cx="2921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当前保留样例曲线展示，包括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GR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RT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RHOB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等曲线道；真实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LAS/DLIS/LIS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到位后可替换为真实曲线。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E8FB94B-F3E6-945B-7727-AAA7983B7E83}"/>
              </a:ext>
            </a:extLst>
          </p:cNvPr>
          <p:cNvSpPr txBox="1"/>
          <p:nvPr/>
        </p:nvSpPr>
        <p:spPr>
          <a:xfrm>
            <a:off x="965200" y="4470400"/>
            <a:ext cx="101600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目前井深字段已从 </a:t>
            </a: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Excel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Td Meter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正确进入井档案展示。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3B4C68"/>
                </a:solidFill>
                <a:latin typeface="Microsoft YaHei" panose="020B0503020204020204" pitchFamily="34" charset="-122"/>
              </a:rPr>
              <a:t>曲线展示能力已预留，但真实曲线文件仍是后续重点。</a:t>
            </a:r>
          </a:p>
        </p:txBody>
      </p:sp>
    </p:spTree>
    <p:extLst>
      <p:ext uri="{BB962C8B-B14F-4D97-AF65-F5344CB8AC3E}">
        <p14:creationId xmlns:p14="http://schemas.microsoft.com/office/powerpoint/2010/main" val="2042797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5E21C2-BA69-A226-A667-555FAA806C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2D8E45-3CEE-1ED7-D747-60F768668B8F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80073B-4E9F-E18B-E4E3-631EC628F6A7}"/>
              </a:ext>
            </a:extLst>
          </p:cNvPr>
          <p:cNvSpPr txBox="1"/>
          <p:nvPr/>
        </p:nvSpPr>
        <p:spPr>
          <a:xfrm>
            <a:off x="558800" y="355600"/>
            <a:ext cx="711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功能展示三：数据目录与服务状态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1ACFCA-FE28-9A7D-951F-499AB1D04DFE}"/>
              </a:ext>
            </a:extLst>
          </p:cNvPr>
          <p:cNvSpPr txBox="1"/>
          <p:nvPr/>
        </p:nvSpPr>
        <p:spPr>
          <a:xfrm>
            <a:off x="558800" y="8890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用于核对系统到底加载了哪些数据、哪些服务、哪些表可继续扩展。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4BE1A46-D392-3555-2BB3-D3826B6FF93D}"/>
              </a:ext>
            </a:extLst>
          </p:cNvPr>
          <p:cNvSpPr/>
          <p:nvPr/>
        </p:nvSpPr>
        <p:spPr>
          <a:xfrm>
            <a:off x="787400" y="1651000"/>
            <a:ext cx="3175000" cy="2286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FCB496-07CF-4EFE-E424-D2547450521C}"/>
              </a:ext>
            </a:extLst>
          </p:cNvPr>
          <p:cNvSpPr/>
          <p:nvPr/>
        </p:nvSpPr>
        <p:spPr>
          <a:xfrm>
            <a:off x="787400" y="1651000"/>
            <a:ext cx="76200" cy="22860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A1E71E-5453-F5A0-6A0D-71140D91C010}"/>
              </a:ext>
            </a:extLst>
          </p:cNvPr>
          <p:cNvSpPr txBox="1"/>
          <p:nvPr/>
        </p:nvSpPr>
        <p:spPr>
          <a:xfrm>
            <a:off x="1016000" y="18542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数据目录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7E62E9-E386-9249-98FE-367EE49E2298}"/>
              </a:ext>
            </a:extLst>
          </p:cNvPr>
          <p:cNvSpPr txBox="1"/>
          <p:nvPr/>
        </p:nvSpPr>
        <p:spPr>
          <a:xfrm>
            <a:off x="1016000" y="2235200"/>
            <a:ext cx="2794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盆地名录、井位名录、井资料覆盖摘要、当前盆地专题资料、数据扩展建议。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3724CAA-678B-9AB9-24E0-55A8D24B3165}"/>
              </a:ext>
            </a:extLst>
          </p:cNvPr>
          <p:cNvSpPr/>
          <p:nvPr/>
        </p:nvSpPr>
        <p:spPr>
          <a:xfrm>
            <a:off x="4495800" y="1651000"/>
            <a:ext cx="3175000" cy="2286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BB82E0-9B83-A90A-B49F-CCD1D85B9E50}"/>
              </a:ext>
            </a:extLst>
          </p:cNvPr>
          <p:cNvSpPr/>
          <p:nvPr/>
        </p:nvSpPr>
        <p:spPr>
          <a:xfrm>
            <a:off x="4495800" y="1651000"/>
            <a:ext cx="76200" cy="2286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FB119F-D4BA-7964-9A91-7A765AAD11F7}"/>
              </a:ext>
            </a:extLst>
          </p:cNvPr>
          <p:cNvSpPr txBox="1"/>
          <p:nvPr/>
        </p:nvSpPr>
        <p:spPr>
          <a:xfrm>
            <a:off x="4724400" y="18542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服务状态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6631B6-3EBA-E013-4F80-7A3F7C419A1D}"/>
              </a:ext>
            </a:extLst>
          </p:cNvPr>
          <p:cNvSpPr txBox="1"/>
          <p:nvPr/>
        </p:nvSpPr>
        <p:spPr>
          <a:xfrm>
            <a:off x="4724400" y="2235200"/>
            <a:ext cx="2794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REST API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MapGIS FeatureServer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接口、图层目录、本地回退数据与数据治理待办。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5244DB2-C168-35F5-C4A4-61F9007944DB}"/>
              </a:ext>
            </a:extLst>
          </p:cNvPr>
          <p:cNvSpPr/>
          <p:nvPr/>
        </p:nvSpPr>
        <p:spPr>
          <a:xfrm>
            <a:off x="8204200" y="1651000"/>
            <a:ext cx="3175000" cy="2286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50ACA0-AE78-EBB8-9E1B-2B526425B34C}"/>
              </a:ext>
            </a:extLst>
          </p:cNvPr>
          <p:cNvSpPr/>
          <p:nvPr/>
        </p:nvSpPr>
        <p:spPr>
          <a:xfrm>
            <a:off x="8204200" y="1651000"/>
            <a:ext cx="76200" cy="2286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0785A7-9FF8-1390-44D5-4783A5DDB827}"/>
              </a:ext>
            </a:extLst>
          </p:cNvPr>
          <p:cNvSpPr txBox="1"/>
          <p:nvPr/>
        </p:nvSpPr>
        <p:spPr>
          <a:xfrm>
            <a:off x="8432800" y="18542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运行状态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3AE64E-66CF-1F62-7BEF-58F87EB70925}"/>
              </a:ext>
            </a:extLst>
          </p:cNvPr>
          <p:cNvSpPr txBox="1"/>
          <p:nvPr/>
        </p:nvSpPr>
        <p:spPr>
          <a:xfrm>
            <a:off x="8432800" y="2235200"/>
            <a:ext cx="2794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前端会提示当前是否连接真实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MapGIS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服务；服务不可用时回退到本地演示数据，便于排查。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65A0388-8319-05A7-DADC-24CE50A5265B}"/>
              </a:ext>
            </a:extLst>
          </p:cNvPr>
          <p:cNvSpPr/>
          <p:nvPr/>
        </p:nvSpPr>
        <p:spPr>
          <a:xfrm>
            <a:off x="1270000" y="4699000"/>
            <a:ext cx="9652000" cy="889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C6779D-25FF-0CF9-2711-3923500F0B3D}"/>
              </a:ext>
            </a:extLst>
          </p:cNvPr>
          <p:cNvSpPr/>
          <p:nvPr/>
        </p:nvSpPr>
        <p:spPr>
          <a:xfrm>
            <a:off x="1270000" y="4699000"/>
            <a:ext cx="76200" cy="889000"/>
          </a:xfrm>
          <a:prstGeom prst="rect">
            <a:avLst/>
          </a:prstGeom>
          <a:solidFill>
            <a:srgbClr val="6D28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9DA798-2F7D-3602-50C6-49627247D12E}"/>
              </a:ext>
            </a:extLst>
          </p:cNvPr>
          <p:cNvSpPr txBox="1"/>
          <p:nvPr/>
        </p:nvSpPr>
        <p:spPr>
          <a:xfrm>
            <a:off x="1498600" y="4902200"/>
            <a:ext cx="927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管理价值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D6CEFE-DFAC-430B-3A1B-02930B24B7B9}"/>
              </a:ext>
            </a:extLst>
          </p:cNvPr>
          <p:cNvSpPr txBox="1"/>
          <p:nvPr/>
        </p:nvSpPr>
        <p:spPr>
          <a:xfrm>
            <a:off x="1498600" y="5283200"/>
            <a:ext cx="927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这部分不是单纯展示，而是帮助后续开发和数据核对：知道数据从哪里来、哪些已经展示、哪些仍需补齐。</a:t>
            </a:r>
          </a:p>
        </p:txBody>
      </p:sp>
    </p:spTree>
    <p:extLst>
      <p:ext uri="{BB962C8B-B14F-4D97-AF65-F5344CB8AC3E}">
        <p14:creationId xmlns:p14="http://schemas.microsoft.com/office/powerpoint/2010/main" val="158206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D7E402-6A95-CD08-1EBC-6873752DF4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EC2618-14D3-60C9-77E7-66924967CAFE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532A39-4F17-04AC-E725-470FD9E383F5}"/>
              </a:ext>
            </a:extLst>
          </p:cNvPr>
          <p:cNvSpPr txBox="1"/>
          <p:nvPr/>
        </p:nvSpPr>
        <p:spPr>
          <a:xfrm>
            <a:off x="558800" y="355600"/>
            <a:ext cx="711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当前成果与边界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D5515E-F266-AC39-5D8C-43A6C7C43F95}"/>
              </a:ext>
            </a:extLst>
          </p:cNvPr>
          <p:cNvSpPr txBox="1"/>
          <p:nvPr/>
        </p:nvSpPr>
        <p:spPr>
          <a:xfrm>
            <a:off x="558800" y="8890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系统已经完成初步闭环，但还不是最终生产系统。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CDC303A-9F9C-4364-7443-B0189D0EA450}"/>
              </a:ext>
            </a:extLst>
          </p:cNvPr>
          <p:cNvSpPr/>
          <p:nvPr/>
        </p:nvSpPr>
        <p:spPr>
          <a:xfrm>
            <a:off x="787400" y="1625600"/>
            <a:ext cx="4953000" cy="3048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682511-09DA-00CC-DE2C-334E3FA9BF6B}"/>
              </a:ext>
            </a:extLst>
          </p:cNvPr>
          <p:cNvSpPr/>
          <p:nvPr/>
        </p:nvSpPr>
        <p:spPr>
          <a:xfrm>
            <a:off x="787400" y="1625600"/>
            <a:ext cx="76200" cy="30480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C85A92-6A11-94B0-B1F6-C1380BF33E3D}"/>
              </a:ext>
            </a:extLst>
          </p:cNvPr>
          <p:cNvSpPr txBox="1"/>
          <p:nvPr/>
        </p:nvSpPr>
        <p:spPr>
          <a:xfrm>
            <a:off x="1016000" y="1828800"/>
            <a:ext cx="457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已经完成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E7BC08-6502-396C-E2C4-F70786E7A9AF}"/>
              </a:ext>
            </a:extLst>
          </p:cNvPr>
          <p:cNvSpPr txBox="1"/>
          <p:nvPr/>
        </p:nvSpPr>
        <p:spPr>
          <a:xfrm>
            <a:off x="1016000" y="2209800"/>
            <a:ext cx="4572000" cy="97462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1. MapGIS IGServer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服务接入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真实井位与盆地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shp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发布展示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3. Excel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井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盆地专题表整理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地图筛选、定位、弹窗与详情联动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样例测井曲线展示保留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1013845-985E-401D-CDC1-BBD8A7E55BC0}"/>
              </a:ext>
            </a:extLst>
          </p:cNvPr>
          <p:cNvSpPr/>
          <p:nvPr/>
        </p:nvSpPr>
        <p:spPr>
          <a:xfrm>
            <a:off x="6451600" y="1625600"/>
            <a:ext cx="4953000" cy="3048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92D2BA-CD48-837F-5FB9-8F9D4DAB8A94}"/>
              </a:ext>
            </a:extLst>
          </p:cNvPr>
          <p:cNvSpPr/>
          <p:nvPr/>
        </p:nvSpPr>
        <p:spPr>
          <a:xfrm>
            <a:off x="6451600" y="1625600"/>
            <a:ext cx="76200" cy="3048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A647AC-542F-D054-9FB3-296EDD8CF688}"/>
              </a:ext>
            </a:extLst>
          </p:cNvPr>
          <p:cNvSpPr txBox="1"/>
          <p:nvPr/>
        </p:nvSpPr>
        <p:spPr>
          <a:xfrm>
            <a:off x="6680200" y="1828800"/>
            <a:ext cx="457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当前边界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AD5607D-FE03-B70B-2AD1-96356114A90F}"/>
              </a:ext>
            </a:extLst>
          </p:cNvPr>
          <p:cNvSpPr txBox="1"/>
          <p:nvPr/>
        </p:nvSpPr>
        <p:spPr>
          <a:xfrm>
            <a:off x="6680200" y="2209800"/>
            <a:ext cx="45720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真实测井曲线文件尚未接入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数据仍以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JSON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文件整理结果为主，尚未落库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权限、审计、运维监控尚未建设</a:t>
            </a:r>
          </a:p>
          <a:p>
            <a:pPr>
              <a:spcAft>
                <a:spcPts val="400"/>
              </a:spcAft>
            </a:pP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前端仍是轻量原型结构，后续需工程化拆分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2914CFE-7FFC-144A-DB96-03394E65288E}"/>
              </a:ext>
            </a:extLst>
          </p:cNvPr>
          <p:cNvSpPr/>
          <p:nvPr/>
        </p:nvSpPr>
        <p:spPr>
          <a:xfrm>
            <a:off x="558800" y="6350000"/>
            <a:ext cx="2413000" cy="304800"/>
          </a:xfrm>
          <a:prstGeom prst="roundRect">
            <a:avLst/>
          </a:prstGeom>
          <a:solidFill>
            <a:srgbClr val="E8F1FF"/>
          </a:solidFill>
          <a:ln>
            <a:solidFill>
              <a:srgbClr val="CADA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rgbClr val="205ECF"/>
                </a:solidFill>
                <a:latin typeface="Microsoft YaHei" panose="020B0503020204020204" pitchFamily="34" charset="-122"/>
              </a:rPr>
              <a:t>判断：适合作为初步系统成果展示和下一阶段建设基础。</a:t>
            </a:r>
          </a:p>
        </p:txBody>
      </p:sp>
    </p:spTree>
    <p:extLst>
      <p:ext uri="{BB962C8B-B14F-4D97-AF65-F5344CB8AC3E}">
        <p14:creationId xmlns:p14="http://schemas.microsoft.com/office/powerpoint/2010/main" val="2888280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BF0D73F-F306-3484-B5EF-EE44F8C7A3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FBF90E-6BCA-A565-FB42-7B7DDFD657A9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3A9CC1-4828-6D85-190B-45B8FC62853A}"/>
              </a:ext>
            </a:extLst>
          </p:cNvPr>
          <p:cNvSpPr txBox="1"/>
          <p:nvPr/>
        </p:nvSpPr>
        <p:spPr>
          <a:xfrm>
            <a:off x="558800" y="355600"/>
            <a:ext cx="711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后续建设计划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385542-2200-A8E4-ED34-458192360CBF}"/>
              </a:ext>
            </a:extLst>
          </p:cNvPr>
          <p:cNvSpPr txBox="1"/>
          <p:nvPr/>
        </p:nvSpPr>
        <p:spPr>
          <a:xfrm>
            <a:off x="558800" y="8890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建议按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F518282-F6CC-FA8A-8103-0AD2551B1E67}"/>
              </a:ext>
            </a:extLst>
          </p:cNvPr>
          <p:cNvSpPr/>
          <p:nvPr/>
        </p:nvSpPr>
        <p:spPr>
          <a:xfrm>
            <a:off x="736600" y="1955800"/>
            <a:ext cx="2413000" cy="2159000"/>
          </a:xfrm>
          <a:prstGeom prst="roundRect">
            <a:avLst/>
          </a:prstGeom>
          <a:solidFill>
            <a:srgbClr val="E8F1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71B0B1-9E63-64F7-A41F-2E90A2B1D0BA}"/>
              </a:ext>
            </a:extLst>
          </p:cNvPr>
          <p:cNvSpPr txBox="1"/>
          <p:nvPr/>
        </p:nvSpPr>
        <p:spPr>
          <a:xfrm>
            <a:off x="889000" y="2082800"/>
            <a:ext cx="2108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真实对象接入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0897D4-6A7E-2EE2-A999-516AE9853049}"/>
              </a:ext>
            </a:extLst>
          </p:cNvPr>
          <p:cNvSpPr txBox="1"/>
          <p:nvPr/>
        </p:nvSpPr>
        <p:spPr>
          <a:xfrm>
            <a:off x="889000" y="2387600"/>
            <a:ext cx="2108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当前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替换井与盆地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shp 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重新发布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IGServer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服务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前端切换真实字段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2445F1A-64C6-1846-5B2A-CB3B6F231467}"/>
              </a:ext>
            </a:extLst>
          </p:cNvPr>
          <p:cNvCxnSpPr/>
          <p:nvPr/>
        </p:nvCxnSpPr>
        <p:spPr>
          <a:xfrm>
            <a:off x="3251200" y="3022600"/>
            <a:ext cx="431800" cy="0"/>
          </a:xfrm>
          <a:prstGeom prst="line">
            <a:avLst/>
          </a:prstGeom>
          <a:ln w="28575">
            <a:solidFill>
              <a:srgbClr val="205E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6B42098-BA78-1F2E-F601-D796B1792D17}"/>
              </a:ext>
            </a:extLst>
          </p:cNvPr>
          <p:cNvSpPr/>
          <p:nvPr/>
        </p:nvSpPr>
        <p:spPr>
          <a:xfrm>
            <a:off x="3530600" y="1955800"/>
            <a:ext cx="2413000" cy="2159000"/>
          </a:xfrm>
          <a:prstGeom prst="roundRect">
            <a:avLst/>
          </a:prstGeom>
          <a:solidFill>
            <a:srgbClr val="E8F1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1DB519-5682-5C74-F315-FBC21465C7DD}"/>
              </a:ext>
            </a:extLst>
          </p:cNvPr>
          <p:cNvSpPr txBox="1"/>
          <p:nvPr/>
        </p:nvSpPr>
        <p:spPr>
          <a:xfrm>
            <a:off x="3683000" y="2082800"/>
            <a:ext cx="2108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专题资料增强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D133A7-1856-95FA-A761-42D1BE504EB6}"/>
              </a:ext>
            </a:extLst>
          </p:cNvPr>
          <p:cNvSpPr txBox="1"/>
          <p:nvPr/>
        </p:nvSpPr>
        <p:spPr>
          <a:xfrm>
            <a:off x="3683000" y="2387600"/>
            <a:ext cx="2108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1-2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周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扩展井测试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分层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井斜视图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扩展盆地油气系统与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play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视图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统一数据口径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ABBD4CB-1E2E-C25D-F407-8D13E9E17977}"/>
              </a:ext>
            </a:extLst>
          </p:cNvPr>
          <p:cNvCxnSpPr/>
          <p:nvPr/>
        </p:nvCxnSpPr>
        <p:spPr>
          <a:xfrm>
            <a:off x="6045200" y="3022600"/>
            <a:ext cx="431800" cy="0"/>
          </a:xfrm>
          <a:prstGeom prst="line">
            <a:avLst/>
          </a:prstGeom>
          <a:ln w="28575">
            <a:solidFill>
              <a:srgbClr val="205E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BB9B8E7-04FE-04D6-5532-5AA4B0210B9A}"/>
              </a:ext>
            </a:extLst>
          </p:cNvPr>
          <p:cNvSpPr/>
          <p:nvPr/>
        </p:nvSpPr>
        <p:spPr>
          <a:xfrm>
            <a:off x="6324600" y="1955800"/>
            <a:ext cx="2413000" cy="2159000"/>
          </a:xfrm>
          <a:prstGeom prst="roundRect">
            <a:avLst/>
          </a:prstGeom>
          <a:solidFill>
            <a:srgbClr val="E8F1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24EFB8-26B9-A31D-5C84-3E94FEDE8DAC}"/>
              </a:ext>
            </a:extLst>
          </p:cNvPr>
          <p:cNvSpPr txBox="1"/>
          <p:nvPr/>
        </p:nvSpPr>
        <p:spPr>
          <a:xfrm>
            <a:off x="6477000" y="2082800"/>
            <a:ext cx="2108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真实曲线接入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41B47C9-B52E-0B26-456F-3906D54CF5E4}"/>
              </a:ext>
            </a:extLst>
          </p:cNvPr>
          <p:cNvSpPr txBox="1"/>
          <p:nvPr/>
        </p:nvSpPr>
        <p:spPr>
          <a:xfrm>
            <a:off x="6477000" y="2387600"/>
            <a:ext cx="2108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2-4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周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接入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LAS/DLIS/LIS 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曲线道配置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井资料与曲线联动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734AC38-F73B-560C-E456-F1E4EF69B5AE}"/>
              </a:ext>
            </a:extLst>
          </p:cNvPr>
          <p:cNvCxnSpPr/>
          <p:nvPr/>
        </p:nvCxnSpPr>
        <p:spPr>
          <a:xfrm>
            <a:off x="8839200" y="3022600"/>
            <a:ext cx="431800" cy="0"/>
          </a:xfrm>
          <a:prstGeom prst="line">
            <a:avLst/>
          </a:prstGeom>
          <a:ln w="28575">
            <a:solidFill>
              <a:srgbClr val="205E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C97F20C-360D-F7A0-EE08-46E8E55BBE70}"/>
              </a:ext>
            </a:extLst>
          </p:cNvPr>
          <p:cNvSpPr/>
          <p:nvPr/>
        </p:nvSpPr>
        <p:spPr>
          <a:xfrm>
            <a:off x="9118600" y="1955800"/>
            <a:ext cx="2413000" cy="2159000"/>
          </a:xfrm>
          <a:prstGeom prst="roundRect">
            <a:avLst/>
          </a:prstGeom>
          <a:solidFill>
            <a:srgbClr val="E8F1FF"/>
          </a:solidFill>
          <a:ln>
            <a:solidFill>
              <a:srgbClr val="C6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E4E0114-9A25-0A0B-E60D-CA750D1AEAF1}"/>
              </a:ext>
            </a:extLst>
          </p:cNvPr>
          <p:cNvSpPr txBox="1"/>
          <p:nvPr/>
        </p:nvSpPr>
        <p:spPr>
          <a:xfrm>
            <a:off x="9271000" y="2082800"/>
            <a:ext cx="2108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0E2A53"/>
                </a:solidFill>
                <a:latin typeface="Microsoft YaHei" panose="020B0503020204020204" pitchFamily="34" charset="-122"/>
              </a:rPr>
              <a:t>系统工程化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EAFE54-65FB-DC15-874B-949A61D32201}"/>
              </a:ext>
            </a:extLst>
          </p:cNvPr>
          <p:cNvSpPr txBox="1"/>
          <p:nvPr/>
        </p:nvSpPr>
        <p:spPr>
          <a:xfrm>
            <a:off x="9271000" y="2387600"/>
            <a:ext cx="21082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1-2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月</a:t>
            </a:r>
          </a:p>
          <a:p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前端模块拆分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数据库落库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权限与审计 </a:t>
            </a:r>
            <a:r>
              <a:rPr lang="en-US" altLang="zh-CN" sz="900">
                <a:solidFill>
                  <a:srgbClr val="465875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465875"/>
                </a:solidFill>
                <a:latin typeface="Microsoft YaHei" panose="020B0503020204020204" pitchFamily="34" charset="-122"/>
              </a:rPr>
              <a:t>部署运维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A2B318D-100F-FAC0-3775-30CF18BE7754}"/>
              </a:ext>
            </a:extLst>
          </p:cNvPr>
          <p:cNvSpPr/>
          <p:nvPr/>
        </p:nvSpPr>
        <p:spPr>
          <a:xfrm>
            <a:off x="1066800" y="4826000"/>
            <a:ext cx="10033000" cy="939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0A93A2-25CB-EBC9-FBB8-FFA463B9B2EF}"/>
              </a:ext>
            </a:extLst>
          </p:cNvPr>
          <p:cNvSpPr/>
          <p:nvPr/>
        </p:nvSpPr>
        <p:spPr>
          <a:xfrm>
            <a:off x="1066800" y="4826000"/>
            <a:ext cx="76200" cy="9398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B288C8-5564-CB5A-5146-5C1C5AD522DF}"/>
              </a:ext>
            </a:extLst>
          </p:cNvPr>
          <p:cNvSpPr txBox="1"/>
          <p:nvPr/>
        </p:nvSpPr>
        <p:spPr>
          <a:xfrm>
            <a:off x="1295400" y="5029200"/>
            <a:ext cx="965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近期建议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2554E95-A3A1-3836-E9F9-C9C301196D8A}"/>
              </a:ext>
            </a:extLst>
          </p:cNvPr>
          <p:cNvSpPr txBox="1"/>
          <p:nvPr/>
        </p:nvSpPr>
        <p:spPr>
          <a:xfrm>
            <a:off x="1295400" y="5410200"/>
            <a:ext cx="965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优先把井测试、分层、井斜、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checkshot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和盆地油气系统等数据做成更明确的专题看板；随后接入真实曲线文件。</a:t>
            </a:r>
          </a:p>
        </p:txBody>
      </p:sp>
    </p:spTree>
    <p:extLst>
      <p:ext uri="{BB962C8B-B14F-4D97-AF65-F5344CB8AC3E}">
        <p14:creationId xmlns:p14="http://schemas.microsoft.com/office/powerpoint/2010/main" val="1436642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2377C14-6C77-59CB-19D3-881B1C3F99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CAD993-9FFF-BD7B-059D-28E90527200E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0C9538-B0C0-3AB0-D7FC-71BAE22D9737}"/>
              </a:ext>
            </a:extLst>
          </p:cNvPr>
          <p:cNvSpPr txBox="1"/>
          <p:nvPr/>
        </p:nvSpPr>
        <p:spPr>
          <a:xfrm>
            <a:off x="558800" y="355600"/>
            <a:ext cx="711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091E42"/>
                </a:solidFill>
                <a:latin typeface="Microsoft YaHei" panose="020B0503020204020204" pitchFamily="34" charset="-122"/>
              </a:rPr>
              <a:t>需要其他专题协助的问题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FD9D6A-7476-FD91-1589-C28FC9539A2D}"/>
              </a:ext>
            </a:extLst>
          </p:cNvPr>
          <p:cNvSpPr txBox="1"/>
          <p:nvPr/>
        </p:nvSpPr>
        <p:spPr>
          <a:xfrm>
            <a:off x="558800" y="8890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B6F89"/>
                </a:solidFill>
                <a:latin typeface="Microsoft YaHei" panose="020B0503020204020204" pitchFamily="34" charset="-122"/>
              </a:rPr>
              <a:t>这些问题决定系统能否从初步展示继续升级为可用平台。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3E2A844-138E-B24E-0919-5789462EEC8C}"/>
              </a:ext>
            </a:extLst>
          </p:cNvPr>
          <p:cNvSpPr/>
          <p:nvPr/>
        </p:nvSpPr>
        <p:spPr>
          <a:xfrm>
            <a:off x="685800" y="1574800"/>
            <a:ext cx="3302000" cy="1828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34E18-0017-F5E1-A9D9-934AC77B47F7}"/>
              </a:ext>
            </a:extLst>
          </p:cNvPr>
          <p:cNvSpPr/>
          <p:nvPr/>
        </p:nvSpPr>
        <p:spPr>
          <a:xfrm>
            <a:off x="685800" y="1574800"/>
            <a:ext cx="76200" cy="18288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4F9B26-7CE7-D72A-A03B-793517BB62C2}"/>
              </a:ext>
            </a:extLst>
          </p:cNvPr>
          <p:cNvSpPr txBox="1"/>
          <p:nvPr/>
        </p:nvSpPr>
        <p:spPr>
          <a:xfrm>
            <a:off x="914400" y="17780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数据专题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040294-4F09-E3DF-62A7-8807222936DD}"/>
              </a:ext>
            </a:extLst>
          </p:cNvPr>
          <p:cNvSpPr txBox="1"/>
          <p:nvPr/>
        </p:nvSpPr>
        <p:spPr>
          <a:xfrm>
            <a:off x="914400" y="21590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确认井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盆地表字段口径、数据更新频率、文件命名规范和授权边界。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4FEED2E-3154-3771-2441-D77D37AF656F}"/>
              </a:ext>
            </a:extLst>
          </p:cNvPr>
          <p:cNvSpPr/>
          <p:nvPr/>
        </p:nvSpPr>
        <p:spPr>
          <a:xfrm>
            <a:off x="4445000" y="1574800"/>
            <a:ext cx="3302000" cy="1828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826731-DB4A-F009-0145-B7F443E08F6A}"/>
              </a:ext>
            </a:extLst>
          </p:cNvPr>
          <p:cNvSpPr/>
          <p:nvPr/>
        </p:nvSpPr>
        <p:spPr>
          <a:xfrm>
            <a:off x="4445000" y="1574800"/>
            <a:ext cx="76200" cy="1828800"/>
          </a:xfrm>
          <a:prstGeom prst="rect">
            <a:avLst/>
          </a:prstGeom>
          <a:solidFill>
            <a:srgbClr val="13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765974-8AD6-5C2B-3439-A388E89C5596}"/>
              </a:ext>
            </a:extLst>
          </p:cNvPr>
          <p:cNvSpPr txBox="1"/>
          <p:nvPr/>
        </p:nvSpPr>
        <p:spPr>
          <a:xfrm>
            <a:off x="4673600" y="17780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测井解释专题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AE405FB-4AC0-EF00-78C2-766FFC17F697}"/>
              </a:ext>
            </a:extLst>
          </p:cNvPr>
          <p:cNvSpPr txBox="1"/>
          <p:nvPr/>
        </p:nvSpPr>
        <p:spPr>
          <a:xfrm>
            <a:off x="4673600" y="21590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提供真实 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LAS/DLIS/LIS 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或带深度采样的曲线文件，并确认曲线道、单位和解释口径。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44C08F2-9FA2-7C00-905F-00CA99F3A21F}"/>
              </a:ext>
            </a:extLst>
          </p:cNvPr>
          <p:cNvSpPr/>
          <p:nvPr/>
        </p:nvSpPr>
        <p:spPr>
          <a:xfrm>
            <a:off x="8204200" y="1574800"/>
            <a:ext cx="3302000" cy="1828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C25E86-C9D1-2C62-62AF-BD59B675548D}"/>
              </a:ext>
            </a:extLst>
          </p:cNvPr>
          <p:cNvSpPr/>
          <p:nvPr/>
        </p:nvSpPr>
        <p:spPr>
          <a:xfrm>
            <a:off x="8204200" y="1574800"/>
            <a:ext cx="76200" cy="18288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DF9C24-ABB4-9FDC-6778-3591E611E319}"/>
              </a:ext>
            </a:extLst>
          </p:cNvPr>
          <p:cNvSpPr txBox="1"/>
          <p:nvPr/>
        </p:nvSpPr>
        <p:spPr>
          <a:xfrm>
            <a:off x="8432800" y="17780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GIS / MapGIS </a:t>
            </a:r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专题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888A6F6-97B4-79B6-7560-C10618254247}"/>
              </a:ext>
            </a:extLst>
          </p:cNvPr>
          <p:cNvSpPr txBox="1"/>
          <p:nvPr/>
        </p:nvSpPr>
        <p:spPr>
          <a:xfrm>
            <a:off x="8432800" y="21590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协助确定正式服务发布流程、服务命名规范、坐标系转换、权限和部署环境。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54C20EF-B0B5-AE9F-2EFE-3D4CECE9ECC3}"/>
              </a:ext>
            </a:extLst>
          </p:cNvPr>
          <p:cNvSpPr/>
          <p:nvPr/>
        </p:nvSpPr>
        <p:spPr>
          <a:xfrm>
            <a:off x="685800" y="3886200"/>
            <a:ext cx="3302000" cy="1828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9CE755-8AF0-946D-3A43-64CD466EE74C}"/>
              </a:ext>
            </a:extLst>
          </p:cNvPr>
          <p:cNvSpPr/>
          <p:nvPr/>
        </p:nvSpPr>
        <p:spPr>
          <a:xfrm>
            <a:off x="685800" y="3886200"/>
            <a:ext cx="76200" cy="1828800"/>
          </a:xfrm>
          <a:prstGeom prst="rect">
            <a:avLst/>
          </a:prstGeom>
          <a:solidFill>
            <a:srgbClr val="6D28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E24EB1-A5B0-4D04-9FF5-79B680940C2C}"/>
              </a:ext>
            </a:extLst>
          </p:cNvPr>
          <p:cNvSpPr txBox="1"/>
          <p:nvPr/>
        </p:nvSpPr>
        <p:spPr>
          <a:xfrm>
            <a:off x="914400" y="40894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地质业务专题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AEC634-F297-408C-DB31-EB79023E1598}"/>
              </a:ext>
            </a:extLst>
          </p:cNvPr>
          <p:cNvSpPr txBox="1"/>
          <p:nvPr/>
        </p:nvSpPr>
        <p:spPr>
          <a:xfrm>
            <a:off x="914400" y="44704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确认盆地、油气系统、</a:t>
            </a:r>
            <a:r>
              <a:rPr lang="en-US" altLang="zh-CN" sz="1000">
                <a:solidFill>
                  <a:srgbClr val="5B6F89"/>
                </a:solidFill>
                <a:latin typeface="Microsoft YaHei" panose="020B0503020204020204" pitchFamily="34" charset="-122"/>
              </a:rPr>
              <a:t>play</a:t>
            </a: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、地层、测试等业务字段的展示优先级和筛选逻辑。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91C814A-3271-7B9F-2F2B-619C8CC39CF0}"/>
              </a:ext>
            </a:extLst>
          </p:cNvPr>
          <p:cNvSpPr/>
          <p:nvPr/>
        </p:nvSpPr>
        <p:spPr>
          <a:xfrm>
            <a:off x="4445000" y="3886200"/>
            <a:ext cx="3302000" cy="1828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7F2BBC-2233-1DF8-4518-9A7D76EE0CF4}"/>
              </a:ext>
            </a:extLst>
          </p:cNvPr>
          <p:cNvSpPr/>
          <p:nvPr/>
        </p:nvSpPr>
        <p:spPr>
          <a:xfrm>
            <a:off x="4445000" y="3886200"/>
            <a:ext cx="76200" cy="1828800"/>
          </a:xfrm>
          <a:prstGeom prst="rect">
            <a:avLst/>
          </a:prstGeom>
          <a:solidFill>
            <a:srgbClr val="C4475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4BD7596-6FFB-2FE2-5883-6EA4F885FB62}"/>
              </a:ext>
            </a:extLst>
          </p:cNvPr>
          <p:cNvSpPr txBox="1"/>
          <p:nvPr/>
        </p:nvSpPr>
        <p:spPr>
          <a:xfrm>
            <a:off x="4673600" y="40894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平台运维专题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C3073AE-BDC7-2B99-318D-704713E7A32E}"/>
              </a:ext>
            </a:extLst>
          </p:cNvPr>
          <p:cNvSpPr txBox="1"/>
          <p:nvPr/>
        </p:nvSpPr>
        <p:spPr>
          <a:xfrm>
            <a:off x="4673600" y="44704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协助规划数据库、权限审计、日志监控、备份恢复、服务健康检查和正式部署方式。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7E415CA-4CDD-69DE-9382-02FA2A1DEA43}"/>
              </a:ext>
            </a:extLst>
          </p:cNvPr>
          <p:cNvSpPr/>
          <p:nvPr/>
        </p:nvSpPr>
        <p:spPr>
          <a:xfrm>
            <a:off x="8204200" y="3886200"/>
            <a:ext cx="3302000" cy="18288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1971598-EED9-3848-53E9-0E488B17E7DF}"/>
              </a:ext>
            </a:extLst>
          </p:cNvPr>
          <p:cNvSpPr/>
          <p:nvPr/>
        </p:nvSpPr>
        <p:spPr>
          <a:xfrm>
            <a:off x="8204200" y="3886200"/>
            <a:ext cx="76200" cy="1828800"/>
          </a:xfrm>
          <a:prstGeom prst="rect">
            <a:avLst/>
          </a:prstGeom>
          <a:solidFill>
            <a:srgbClr val="3D53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16104A8-4FEC-F205-AC94-A84876354C78}"/>
              </a:ext>
            </a:extLst>
          </p:cNvPr>
          <p:cNvSpPr txBox="1"/>
          <p:nvPr/>
        </p:nvSpPr>
        <p:spPr>
          <a:xfrm>
            <a:off x="8432800" y="40894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项目协同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79F2C56-6CAA-365D-442F-FF8C2867090B}"/>
              </a:ext>
            </a:extLst>
          </p:cNvPr>
          <p:cNvSpPr txBox="1"/>
          <p:nvPr/>
        </p:nvSpPr>
        <p:spPr>
          <a:xfrm>
            <a:off x="8432800" y="4470400"/>
            <a:ext cx="2921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确定下一阶段里程碑、验收口径、样例数据范围和跨专题联调机制。</a:t>
            </a:r>
          </a:p>
        </p:txBody>
      </p:sp>
    </p:spTree>
    <p:extLst>
      <p:ext uri="{BB962C8B-B14F-4D97-AF65-F5344CB8AC3E}">
        <p14:creationId xmlns:p14="http://schemas.microsoft.com/office/powerpoint/2010/main" val="2890921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5268E6-8A97-6577-D967-D782314CED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B52405-6661-5562-B571-3694A853A994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4E0EA6-1697-756F-65BF-942EE32F72A8}"/>
              </a:ext>
            </a:extLst>
          </p:cNvPr>
          <p:cNvSpPr txBox="1"/>
          <p:nvPr/>
        </p:nvSpPr>
        <p:spPr>
          <a:xfrm>
            <a:off x="889000" y="1092200"/>
            <a:ext cx="508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000" b="1">
                <a:solidFill>
                  <a:srgbClr val="091E42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CF84FD-C79A-7EA7-F58E-80071791C50D}"/>
              </a:ext>
            </a:extLst>
          </p:cNvPr>
          <p:cNvSpPr txBox="1"/>
          <p:nvPr/>
        </p:nvSpPr>
        <p:spPr>
          <a:xfrm>
            <a:off x="1092200" y="2082800"/>
            <a:ext cx="9652000" cy="127727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7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3B4C68"/>
                </a:solidFill>
                <a:latin typeface="Microsoft YaHei" panose="020B0503020204020204" pitchFamily="34" charset="-122"/>
              </a:rPr>
              <a:t>系统已完成真实井位与盆地数据的初步展示闭环。</a:t>
            </a:r>
          </a:p>
          <a:p>
            <a:pPr>
              <a:spcAft>
                <a:spcPts val="600"/>
              </a:spcAft>
            </a:pPr>
            <a:r>
              <a:rPr lang="en-US" altLang="zh-CN" sz="17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3B4C68"/>
                </a:solidFill>
                <a:latin typeface="Microsoft YaHei" panose="020B0503020204020204" pitchFamily="34" charset="-122"/>
              </a:rPr>
              <a:t>当前架构以 </a:t>
            </a:r>
            <a:r>
              <a:rPr lang="en-US" altLang="zh-CN" sz="1700">
                <a:solidFill>
                  <a:srgbClr val="3B4C68"/>
                </a:solidFill>
                <a:latin typeface="Microsoft YaHei" panose="020B0503020204020204" pitchFamily="34" charset="-122"/>
              </a:rPr>
              <a:t>MapGIS IGServer </a:t>
            </a:r>
            <a:r>
              <a:rPr lang="zh-CN" altLang="en-US" sz="1700">
                <a:solidFill>
                  <a:srgbClr val="3B4C68"/>
                </a:solidFill>
                <a:latin typeface="Microsoft YaHei" panose="020B0503020204020204" pitchFamily="34" charset="-122"/>
              </a:rPr>
              <a:t>为核心，前端通过服务代理和配置文件实现联动展示。</a:t>
            </a:r>
          </a:p>
          <a:p>
            <a:pPr>
              <a:spcAft>
                <a:spcPts val="600"/>
              </a:spcAft>
            </a:pPr>
            <a:r>
              <a:rPr lang="en-US" altLang="zh-CN" sz="17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3B4C68"/>
                </a:solidFill>
                <a:latin typeface="Microsoft YaHei" panose="020B0503020204020204" pitchFamily="34" charset="-122"/>
              </a:rPr>
              <a:t>后续重点是补齐真实测井曲线、扩展专题表视图、推进数据库与权限等工程化能力。</a:t>
            </a:r>
          </a:p>
          <a:p>
            <a:pPr>
              <a:spcAft>
                <a:spcPts val="600"/>
              </a:spcAft>
            </a:pPr>
            <a:r>
              <a:rPr lang="en-US" altLang="zh-CN" sz="1700">
                <a:solidFill>
                  <a:srgbClr val="3B4C6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3B4C68"/>
                </a:solidFill>
                <a:latin typeface="Microsoft YaHei" panose="020B0503020204020204" pitchFamily="34" charset="-122"/>
              </a:rPr>
              <a:t>需要数据、测井解释、</a:t>
            </a:r>
            <a:r>
              <a:rPr lang="en-US" altLang="zh-CN" sz="1700">
                <a:solidFill>
                  <a:srgbClr val="3B4C68"/>
                </a:solidFill>
                <a:latin typeface="Microsoft YaHei" panose="020B0503020204020204" pitchFamily="34" charset="-122"/>
              </a:rPr>
              <a:t>GIS</a:t>
            </a:r>
            <a:r>
              <a:rPr lang="zh-CN" altLang="en-US" sz="1700">
                <a:solidFill>
                  <a:srgbClr val="3B4C68"/>
                </a:solidFill>
                <a:latin typeface="Microsoft YaHei" panose="020B0503020204020204" pitchFamily="34" charset="-122"/>
              </a:rPr>
              <a:t>、地质业务和运维专题共同协助。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579D1AF-1005-36DE-7C91-D291793572C0}"/>
              </a:ext>
            </a:extLst>
          </p:cNvPr>
          <p:cNvSpPr/>
          <p:nvPr/>
        </p:nvSpPr>
        <p:spPr>
          <a:xfrm>
            <a:off x="2032000" y="4953000"/>
            <a:ext cx="8128000" cy="914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5C9A34-02E3-C05E-45F3-959AFAD2312A}"/>
              </a:ext>
            </a:extLst>
          </p:cNvPr>
          <p:cNvSpPr/>
          <p:nvPr/>
        </p:nvSpPr>
        <p:spPr>
          <a:xfrm>
            <a:off x="2032000" y="4953000"/>
            <a:ext cx="76200" cy="914400"/>
          </a:xfrm>
          <a:prstGeom prst="rect">
            <a:avLst/>
          </a:prstGeom>
          <a:solidFill>
            <a:srgbClr val="205E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BA3E7F-50F4-3B30-2244-E0D6AEBAD8EC}"/>
              </a:ext>
            </a:extLst>
          </p:cNvPr>
          <p:cNvSpPr txBox="1"/>
          <p:nvPr/>
        </p:nvSpPr>
        <p:spPr>
          <a:xfrm>
            <a:off x="2260600" y="5156200"/>
            <a:ext cx="774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42F5C"/>
                </a:solidFill>
                <a:latin typeface="Microsoft YaHei" panose="020B0503020204020204" pitchFamily="34" charset="-122"/>
              </a:rPr>
              <a:t>下一步建议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15FBFB-C651-5FAD-78A1-752A8F15A9A2}"/>
              </a:ext>
            </a:extLst>
          </p:cNvPr>
          <p:cNvSpPr txBox="1"/>
          <p:nvPr/>
        </p:nvSpPr>
        <p:spPr>
          <a:xfrm>
            <a:off x="2260600" y="5537200"/>
            <a:ext cx="7747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1000">
                <a:solidFill>
                  <a:srgbClr val="5B6F89"/>
                </a:solidFill>
                <a:latin typeface="Microsoft YaHei" panose="020B0503020204020204" pitchFamily="34" charset="-122"/>
              </a:rPr>
              <a:t>先做真实曲线文件接入方案和专题资料视图增强，再启动系统工程化改造。</a:t>
            </a:r>
          </a:p>
        </p:txBody>
      </p:sp>
    </p:spTree>
    <p:extLst>
      <p:ext uri="{BB962C8B-B14F-4D97-AF65-F5344CB8AC3E}">
        <p14:creationId xmlns:p14="http://schemas.microsoft.com/office/powerpoint/2010/main" val="2947640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1487</Words>
  <Application>Microsoft Office PowerPoint</Application>
  <PresentationFormat>自定义</PresentationFormat>
  <Paragraphs>172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1719994808@qq.com</dc:creator>
  <cp:lastModifiedBy>1719994808@qq.com</cp:lastModifiedBy>
  <cp:revision>1</cp:revision>
  <dcterms:created xsi:type="dcterms:W3CDTF">2026-04-11T05:56:46Z</dcterms:created>
  <dcterms:modified xsi:type="dcterms:W3CDTF">2026-04-11T05:56:46Z</dcterms:modified>
</cp:coreProperties>
</file>