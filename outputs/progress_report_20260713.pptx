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1695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cover accent"/>
          <p:cNvSpPr txBox="1"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4" name="cover title"/>
          <p:cNvSpPr txBox="1"/>
          <p:nvPr/>
        </p:nvSpPr>
        <p:spPr>
          <a:xfrm>
            <a:off x="658368" y="1691640"/>
            <a:ext cx="9875520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3100" b="1">
                <a:solidFill>
                  <a:srgbClr val="002855"/>
                </a:solidFill>
                <a:latin typeface="Microsoft YaHei"/>
                <a:ea typeface="Microsoft YaHei"/>
              </a:rPr>
              <a:t>海外油气新项目综合评价与</a:t>
            </a:r>
            <a:endParaRPr lang="zh-CN" sz="3100"/>
          </a:p>
          <a:p>
            <a:pPr algn="l"/>
            <a:r>
              <a:rPr lang="zh-CN" sz="3100" b="1">
                <a:solidFill>
                  <a:srgbClr val="002855"/>
                </a:solidFill>
                <a:latin typeface="Microsoft YaHei"/>
                <a:ea typeface="Microsoft YaHei"/>
              </a:rPr>
              <a:t>地学数据展示平台研究进展汇报</a:t>
            </a:r>
            <a:endParaRPr lang="zh-CN" sz="3100"/>
          </a:p>
        </p:txBody>
      </p:sp>
      <p:sp>
        <p:nvSpPr>
          <p:cNvPr id="5" name="cover sub"/>
          <p:cNvSpPr txBox="1"/>
          <p:nvPr/>
        </p:nvSpPr>
        <p:spPr>
          <a:xfrm>
            <a:off x="694944" y="2944368"/>
            <a:ext cx="9326880" cy="49377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500">
                <a:solidFill>
                  <a:srgbClr val="4F6583"/>
                </a:solidFill>
                <a:latin typeface="Microsoft YaHei"/>
                <a:ea typeface="Microsoft YaHei"/>
              </a:rPr>
              <a:t>围绕多源数据接入、MapGIS 空间服务、资料展示与评价算法原型的阶段性成果汇报</a:t>
            </a:r>
            <a:endParaRPr lang="zh-CN" sz="1500"/>
          </a:p>
        </p:txBody>
      </p:sp>
      <p:sp>
        <p:nvSpPr>
          <p:cNvPr id="6" name="cover tags"/>
          <p:cNvSpPr txBox="1"/>
          <p:nvPr/>
        </p:nvSpPr>
        <p:spPr>
          <a:xfrm>
            <a:off x="694944" y="3703320"/>
            <a:ext cx="50292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200" b="1">
                <a:solidFill>
                  <a:srgbClr val="1F5FBF"/>
                </a:solidFill>
                <a:latin typeface="Microsoft YaHei"/>
                <a:ea typeface="Microsoft YaHei"/>
              </a:rPr>
              <a:t>MapGIS IGServer   |   FeatureServer   |   数据治理   |   评价算法</a:t>
            </a:r>
            <a:endParaRPr lang="zh-CN" sz="1200"/>
          </a:p>
        </p:txBody>
      </p:sp>
      <p:sp>
        <p:nvSpPr>
          <p:cNvPr id="7" name="date"/>
          <p:cNvSpPr txBox="1"/>
          <p:nvPr/>
        </p:nvSpPr>
        <p:spPr>
          <a:xfrm>
            <a:off x="713232" y="5870448"/>
            <a:ext cx="5303520" cy="2926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00">
                <a:solidFill>
                  <a:srgbClr val="4F6583"/>
                </a:solidFill>
                <a:latin typeface="Microsoft YaHei"/>
                <a:ea typeface="Microsoft YaHei"/>
              </a:rPr>
              <a:t>汇报日期：2026 年 7 月</a:t>
            </a:r>
            <a:endParaRPr lang="zh-CN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汇报提纲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先说明项目走到哪里，再展示系统做了什么，最后明确下一步怎么推进。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02</a:t>
            </a:r>
            <a:endParaRPr lang="zh-CN" sz="1000"/>
          </a:p>
        </p:txBody>
      </p:sp>
      <p:sp>
        <p:nvSpPr>
          <p:cNvPr id="10" name="agenda 0"/>
          <p:cNvSpPr txBox="1"/>
          <p:nvPr/>
        </p:nvSpPr>
        <p:spPr>
          <a:xfrm>
            <a:off x="868680" y="1417320"/>
            <a:ext cx="9875520" cy="4206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700" b="1">
                <a:solidFill>
                  <a:srgbClr val="002855"/>
                </a:solidFill>
                <a:latin typeface="Microsoft YaHei"/>
                <a:ea typeface="Microsoft YaHei"/>
              </a:rPr>
              <a:t>1. 项目目标与路线图定位</a:t>
            </a:r>
            <a:endParaRPr lang="zh-CN" sz="1700"/>
          </a:p>
        </p:txBody>
      </p:sp>
      <p:sp>
        <p:nvSpPr>
          <p:cNvPr id="11" name="agenda 1"/>
          <p:cNvSpPr txBox="1"/>
          <p:nvPr/>
        </p:nvSpPr>
        <p:spPr>
          <a:xfrm>
            <a:off x="868680" y="2075688"/>
            <a:ext cx="9875520" cy="4206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700" b="1">
                <a:solidFill>
                  <a:srgbClr val="002855"/>
                </a:solidFill>
                <a:latin typeface="Microsoft YaHei"/>
                <a:ea typeface="Microsoft YaHei"/>
              </a:rPr>
              <a:t>2. 当前研究进展与总体架构</a:t>
            </a:r>
            <a:endParaRPr lang="zh-CN" sz="1700"/>
          </a:p>
        </p:txBody>
      </p:sp>
      <p:sp>
        <p:nvSpPr>
          <p:cNvPr id="12" name="agenda 2"/>
          <p:cNvSpPr txBox="1"/>
          <p:nvPr/>
        </p:nvSpPr>
        <p:spPr>
          <a:xfrm>
            <a:off x="868680" y="2734056"/>
            <a:ext cx="9875520" cy="4206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700" b="1">
                <a:solidFill>
                  <a:srgbClr val="002855"/>
                </a:solidFill>
                <a:latin typeface="Microsoft YaHei"/>
                <a:ea typeface="Microsoft YaHei"/>
              </a:rPr>
              <a:t>3. 已完成的主要成果</a:t>
            </a:r>
            <a:endParaRPr lang="zh-CN" sz="1700"/>
          </a:p>
        </p:txBody>
      </p:sp>
      <p:sp>
        <p:nvSpPr>
          <p:cNvPr id="13" name="agenda 3"/>
          <p:cNvSpPr txBox="1"/>
          <p:nvPr/>
        </p:nvSpPr>
        <p:spPr>
          <a:xfrm>
            <a:off x="868680" y="3392424"/>
            <a:ext cx="9875520" cy="4206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700" b="1">
                <a:solidFill>
                  <a:srgbClr val="002855"/>
                </a:solidFill>
                <a:latin typeface="Microsoft YaHei"/>
                <a:ea typeface="Microsoft YaHei"/>
              </a:rPr>
              <a:t>4. 系统功能展示</a:t>
            </a:r>
            <a:endParaRPr lang="zh-CN" sz="1700"/>
          </a:p>
        </p:txBody>
      </p:sp>
      <p:sp>
        <p:nvSpPr>
          <p:cNvPr id="14" name="agenda 4"/>
          <p:cNvSpPr txBox="1"/>
          <p:nvPr/>
        </p:nvSpPr>
        <p:spPr>
          <a:xfrm>
            <a:off x="868680" y="4050791"/>
            <a:ext cx="9875520" cy="4206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700" b="1">
                <a:solidFill>
                  <a:srgbClr val="002855"/>
                </a:solidFill>
                <a:latin typeface="Microsoft YaHei"/>
                <a:ea typeface="Microsoft YaHei"/>
              </a:rPr>
              <a:t>5. 当前存在问题</a:t>
            </a:r>
            <a:endParaRPr lang="zh-CN" sz="1700"/>
          </a:p>
        </p:txBody>
      </p:sp>
      <p:sp>
        <p:nvSpPr>
          <p:cNvPr id="15" name="agenda 5"/>
          <p:cNvSpPr txBox="1"/>
          <p:nvPr/>
        </p:nvSpPr>
        <p:spPr>
          <a:xfrm>
            <a:off x="868680" y="4709159"/>
            <a:ext cx="9875520" cy="420624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700" b="1">
                <a:solidFill>
                  <a:srgbClr val="002855"/>
                </a:solidFill>
                <a:latin typeface="Microsoft YaHei"/>
                <a:ea typeface="Microsoft YaHei"/>
              </a:rPr>
              <a:t>6. 下一阶段计划与协同建议</a:t>
            </a:r>
            <a:endParaRPr lang="zh-CN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路线图定位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对照标志性成果推进路线图，当前已完成原型平台搭建，正在进入多源数据接入深化阶段。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03</a:t>
            </a:r>
            <a:endParaRPr lang="zh-CN" sz="1000"/>
          </a:p>
        </p:txBody>
      </p:sp>
      <p:sp>
        <p:nvSpPr>
          <p:cNvPr id="10" name="已达到 card"/>
          <p:cNvSpPr txBox="1"/>
          <p:nvPr/>
        </p:nvSpPr>
        <p:spPr>
          <a:xfrm>
            <a:off x="685800" y="1325880"/>
            <a:ext cx="2926080" cy="12344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已达到 tag"/>
          <p:cNvSpPr txBox="1"/>
          <p:nvPr/>
        </p:nvSpPr>
        <p:spPr>
          <a:xfrm>
            <a:off x="850392" y="1490472"/>
            <a:ext cx="25968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已达到</a:t>
            </a:r>
            <a:endParaRPr lang="zh-CN" sz="1100"/>
          </a:p>
        </p:txBody>
      </p:sp>
      <p:sp>
        <p:nvSpPr>
          <p:cNvPr id="12" name="已达到 body"/>
          <p:cNvSpPr txBox="1"/>
          <p:nvPr/>
        </p:nvSpPr>
        <p:spPr>
          <a:xfrm>
            <a:off x="850392" y="1856231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2026 年 5 月节点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初步搭建海外新项目综合评价原型平台。</a:t>
            </a:r>
            <a:endParaRPr lang="zh-CN" sz="1320"/>
          </a:p>
        </p:txBody>
      </p:sp>
      <p:sp>
        <p:nvSpPr>
          <p:cNvPr id="20" name="正在推进 card"/>
          <p:cNvSpPr txBox="1"/>
          <p:nvPr/>
        </p:nvSpPr>
        <p:spPr>
          <a:xfrm>
            <a:off x="3794760" y="1325880"/>
            <a:ext cx="2926080" cy="12344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正在推进 tag"/>
          <p:cNvSpPr txBox="1"/>
          <p:nvPr/>
        </p:nvSpPr>
        <p:spPr>
          <a:xfrm>
            <a:off x="3959352" y="1490472"/>
            <a:ext cx="25968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正在推进</a:t>
            </a:r>
            <a:endParaRPr lang="zh-CN" sz="1100"/>
          </a:p>
        </p:txBody>
      </p:sp>
      <p:sp>
        <p:nvSpPr>
          <p:cNvPr id="22" name="正在推进 body"/>
          <p:cNvSpPr txBox="1"/>
          <p:nvPr/>
        </p:nvSpPr>
        <p:spPr>
          <a:xfrm>
            <a:off x="3959352" y="1856231"/>
            <a:ext cx="2596896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2026 年 8 月节点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多源数据接入模块与 5 类以上数据源结构化接入。</a:t>
            </a:r>
            <a:endParaRPr lang="zh-CN" sz="1320"/>
          </a:p>
        </p:txBody>
      </p:sp>
      <p:sp>
        <p:nvSpPr>
          <p:cNvPr id="30" name="尚未完成 card"/>
          <p:cNvSpPr txBox="1"/>
          <p:nvPr/>
        </p:nvSpPr>
        <p:spPr>
          <a:xfrm>
            <a:off x="6903720" y="1325880"/>
            <a:ext cx="3931920" cy="12344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尚未完成 tag"/>
          <p:cNvSpPr txBox="1"/>
          <p:nvPr/>
        </p:nvSpPr>
        <p:spPr>
          <a:xfrm>
            <a:off x="7068312" y="1490472"/>
            <a:ext cx="3602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尚未完成</a:t>
            </a:r>
            <a:endParaRPr lang="zh-CN" sz="1100"/>
          </a:p>
        </p:txBody>
      </p:sp>
      <p:sp>
        <p:nvSpPr>
          <p:cNvPr id="32" name="尚未完成 body"/>
          <p:cNvSpPr txBox="1"/>
          <p:nvPr/>
        </p:nvSpPr>
        <p:spPr>
          <a:xfrm>
            <a:off x="7068312" y="1856231"/>
            <a:ext cx="3602736" cy="54864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2026 年 11 月节点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模型注册/接入模块、容器化部署和工程化平台。</a:t>
            </a:r>
            <a:endParaRPr lang="zh-CN" sz="1320"/>
          </a:p>
        </p:txBody>
      </p:sp>
      <p:sp>
        <p:nvSpPr>
          <p:cNvPr id="50" name="roadmap note"/>
          <p:cNvSpPr txBox="1"/>
          <p:nvPr/>
        </p:nvSpPr>
        <p:spPr>
          <a:xfrm>
            <a:off x="731520" y="3063240"/>
            <a:ext cx="10515600" cy="14630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AFC8F2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当前判断：系统已经不再是单页演示，而是完成了“真实数据整理 -&gt; MapGIS 服务发布 -&gt; 前端模块展示 -&gt; 评价算法原型”的主链路贯通。下一步重点是把“能展示”推进到“能管理、能评价、能持续更新”。</a:t>
            </a:r>
            <a:endParaRPr lang="zh-CN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当前研究进展总览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围绕数据、服务、前端、评价四条线同步推进。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04</a:t>
            </a:r>
            <a:endParaRPr lang="zh-CN" sz="1000"/>
          </a:p>
        </p:txBody>
      </p:sp>
      <p:sp>
        <p:nvSpPr>
          <p:cNvPr id="10" name="数据整理 card"/>
          <p:cNvSpPr txBox="1"/>
          <p:nvPr/>
        </p:nvSpPr>
        <p:spPr>
          <a:xfrm>
            <a:off x="502920" y="1234440"/>
            <a:ext cx="2697480" cy="13716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数据整理 tag"/>
          <p:cNvSpPr txBox="1"/>
          <p:nvPr/>
        </p:nvSpPr>
        <p:spPr>
          <a:xfrm>
            <a:off x="667512" y="1399032"/>
            <a:ext cx="23682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数据整理</a:t>
            </a:r>
            <a:endParaRPr lang="zh-CN" sz="1100"/>
          </a:p>
        </p:txBody>
      </p:sp>
      <p:sp>
        <p:nvSpPr>
          <p:cNvPr id="12" name="数据整理 body"/>
          <p:cNvSpPr txBox="1"/>
          <p:nvPr/>
        </p:nvSpPr>
        <p:spPr>
          <a:xfrm>
            <a:off x="667512" y="1764792"/>
            <a:ext cx="2368296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整理井、盆地、区块、合同、油气田 Shapefile 与 Excel 表。</a:t>
            </a:r>
            <a:endParaRPr lang="zh-CN" sz="1320"/>
          </a:p>
        </p:txBody>
      </p:sp>
      <p:sp>
        <p:nvSpPr>
          <p:cNvPr id="20" name="服务发布 card"/>
          <p:cNvSpPr txBox="1"/>
          <p:nvPr/>
        </p:nvSpPr>
        <p:spPr>
          <a:xfrm>
            <a:off x="3383280" y="1234440"/>
            <a:ext cx="2697480" cy="13716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服务发布 tag"/>
          <p:cNvSpPr txBox="1"/>
          <p:nvPr/>
        </p:nvSpPr>
        <p:spPr>
          <a:xfrm>
            <a:off x="3547872" y="1399032"/>
            <a:ext cx="23682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服务发布</a:t>
            </a:r>
            <a:endParaRPr lang="zh-CN" sz="1100"/>
          </a:p>
        </p:txBody>
      </p:sp>
      <p:sp>
        <p:nvSpPr>
          <p:cNvPr id="22" name="服务发布 body"/>
          <p:cNvSpPr txBox="1"/>
          <p:nvPr/>
        </p:nvSpPr>
        <p:spPr>
          <a:xfrm>
            <a:off x="3547872" y="1764792"/>
            <a:ext cx="2368296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通过 MapGIS IGServer 发布 wells、main_basins、contract_blocks、fields。</a:t>
            </a:r>
            <a:endParaRPr lang="zh-CN" sz="1320"/>
          </a:p>
        </p:txBody>
      </p:sp>
      <p:sp>
        <p:nvSpPr>
          <p:cNvPr id="30" name="平台展示 card"/>
          <p:cNvSpPr txBox="1"/>
          <p:nvPr/>
        </p:nvSpPr>
        <p:spPr>
          <a:xfrm>
            <a:off x="6263640" y="1234440"/>
            <a:ext cx="2697480" cy="13716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平台展示 tag"/>
          <p:cNvSpPr txBox="1"/>
          <p:nvPr/>
        </p:nvSpPr>
        <p:spPr>
          <a:xfrm>
            <a:off x="6428231" y="1399032"/>
            <a:ext cx="23682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平台展示</a:t>
            </a:r>
            <a:endParaRPr lang="zh-CN" sz="1100"/>
          </a:p>
        </p:txBody>
      </p:sp>
      <p:sp>
        <p:nvSpPr>
          <p:cNvPr id="32" name="平台展示 body"/>
          <p:cNvSpPr txBox="1"/>
          <p:nvPr/>
        </p:nvSpPr>
        <p:spPr>
          <a:xfrm>
            <a:off x="6428231" y="1764792"/>
            <a:ext cx="2368296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重构为数据概览、数据信息、评价算法、服务状态四大模块。</a:t>
            </a:r>
            <a:endParaRPr lang="zh-CN" sz="1320"/>
          </a:p>
        </p:txBody>
      </p:sp>
      <p:sp>
        <p:nvSpPr>
          <p:cNvPr id="40" name="算法原型 card"/>
          <p:cNvSpPr txBox="1"/>
          <p:nvPr/>
        </p:nvSpPr>
        <p:spPr>
          <a:xfrm>
            <a:off x="9144000" y="1234440"/>
            <a:ext cx="2514600" cy="13716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41" name="算法原型 tag"/>
          <p:cNvSpPr txBox="1"/>
          <p:nvPr/>
        </p:nvSpPr>
        <p:spPr>
          <a:xfrm>
            <a:off x="9308592" y="1399032"/>
            <a:ext cx="218541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算法原型</a:t>
            </a:r>
            <a:endParaRPr lang="zh-CN" sz="1100"/>
          </a:p>
        </p:txBody>
      </p:sp>
      <p:sp>
        <p:nvSpPr>
          <p:cNvPr id="42" name="算法原型 body"/>
          <p:cNvSpPr txBox="1"/>
          <p:nvPr/>
        </p:nvSpPr>
        <p:spPr>
          <a:xfrm>
            <a:off x="9308592" y="1764792"/>
            <a:ext cx="2185416" cy="6858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实现可解释评分、对象排序和分项得分展示。</a:t>
            </a:r>
            <a:endParaRPr lang="zh-CN" sz="1320"/>
          </a:p>
        </p:txBody>
      </p:sp>
      <p:sp>
        <p:nvSpPr>
          <p:cNvPr id="60" name="chain"/>
          <p:cNvSpPr txBox="1"/>
          <p:nvPr/>
        </p:nvSpPr>
        <p:spPr>
          <a:xfrm>
            <a:off x="777240" y="3246120"/>
            <a:ext cx="10698480" cy="960120"/>
          </a:xfrm>
          <a:prstGeom prst="round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c"/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数据下载整理  →  字段抽象与整合  →  MapGIS 服务发布  →  前端对象联动  →  评价算法试算</a:t>
            </a:r>
            <a:endParaRPr lang="zh-CN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系统总体架构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当前为轻量前后端架构，MapGIS IGServer 作为主要 GIS 服务来源。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05</a:t>
            </a:r>
            <a:endParaRPr lang="zh-CN" sz="1000"/>
          </a:p>
        </p:txBody>
      </p:sp>
      <p:sp>
        <p:nvSpPr>
          <p:cNvPr id="10" name="数据层 card"/>
          <p:cNvSpPr txBox="1"/>
          <p:nvPr/>
        </p:nvSpPr>
        <p:spPr>
          <a:xfrm>
            <a:off x="594360" y="1143000"/>
            <a:ext cx="3246120" cy="42519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数据层 tag"/>
          <p:cNvSpPr txBox="1"/>
          <p:nvPr/>
        </p:nvSpPr>
        <p:spPr>
          <a:xfrm>
            <a:off x="758952" y="1307592"/>
            <a:ext cx="29169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数据层</a:t>
            </a:r>
            <a:endParaRPr lang="zh-CN" sz="1100"/>
          </a:p>
        </p:txBody>
      </p:sp>
      <p:sp>
        <p:nvSpPr>
          <p:cNvPr id="12" name="数据层 body"/>
          <p:cNvSpPr txBox="1"/>
          <p:nvPr/>
        </p:nvSpPr>
        <p:spPr>
          <a:xfrm>
            <a:off x="758952" y="1673352"/>
            <a:ext cx="2916936" cy="3566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Shapefile：井、盆地、区块、油气田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Excel：井表、盆地表、区块表、合同表、油气田表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CSV/JSON：样例曲线、整合配置、评价模型</a:t>
            </a:r>
            <a:endParaRPr lang="zh-CN" sz="1320"/>
          </a:p>
        </p:txBody>
      </p:sp>
      <p:sp>
        <p:nvSpPr>
          <p:cNvPr id="20" name="服务层 card"/>
          <p:cNvSpPr txBox="1"/>
          <p:nvPr/>
        </p:nvSpPr>
        <p:spPr>
          <a:xfrm>
            <a:off x="4480560" y="1143000"/>
            <a:ext cx="3246120" cy="42519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服务层 tag"/>
          <p:cNvSpPr txBox="1"/>
          <p:nvPr/>
        </p:nvSpPr>
        <p:spPr>
          <a:xfrm>
            <a:off x="4645152" y="1307592"/>
            <a:ext cx="29169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服务层</a:t>
            </a:r>
            <a:endParaRPr lang="zh-CN" sz="1100"/>
          </a:p>
        </p:txBody>
      </p:sp>
      <p:sp>
        <p:nvSpPr>
          <p:cNvPr id="22" name="服务层 body"/>
          <p:cNvSpPr txBox="1"/>
          <p:nvPr/>
        </p:nvSpPr>
        <p:spPr>
          <a:xfrm>
            <a:off x="4645152" y="1673352"/>
            <a:ext cx="2916936" cy="3566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MapGIS IGServer：FeatureServer 要素服务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Node：静态页面服务与 /igs 代理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本地回退：GeoJSON 与 JSON 文件</a:t>
            </a:r>
            <a:endParaRPr lang="zh-CN" sz="1320"/>
          </a:p>
        </p:txBody>
      </p:sp>
      <p:sp>
        <p:nvSpPr>
          <p:cNvPr id="30" name="应用层 card"/>
          <p:cNvSpPr txBox="1"/>
          <p:nvPr/>
        </p:nvSpPr>
        <p:spPr>
          <a:xfrm>
            <a:off x="8366760" y="1143000"/>
            <a:ext cx="3246120" cy="42519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应用层 tag"/>
          <p:cNvSpPr txBox="1"/>
          <p:nvPr/>
        </p:nvSpPr>
        <p:spPr>
          <a:xfrm>
            <a:off x="8531352" y="1307592"/>
            <a:ext cx="29169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应用层</a:t>
            </a:r>
            <a:endParaRPr lang="zh-CN" sz="1100"/>
          </a:p>
        </p:txBody>
      </p:sp>
      <p:sp>
        <p:nvSpPr>
          <p:cNvPr id="32" name="应用层 body"/>
          <p:cNvSpPr txBox="1"/>
          <p:nvPr/>
        </p:nvSpPr>
        <p:spPr>
          <a:xfrm>
            <a:off x="8531352" y="1673352"/>
            <a:ext cx="2916936" cy="35661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数据概览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数据信息模块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评价算法模块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服务状态模块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后续扩展：数据库、权限、模型管理</a:t>
            </a:r>
            <a:endParaRPr lang="zh-CN" sz="13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已接入数据资源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当前已覆盖 5 类核心业务对象，形成空间数据与表型数据并行接入。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06</a:t>
            </a:r>
            <a:endParaRPr lang="zh-CN" sz="1000"/>
          </a:p>
        </p:txBody>
      </p:sp>
      <p:sp>
        <p:nvSpPr>
          <p:cNvPr id="10" name="rowbg"/>
          <p:cNvSpPr txBox="1"/>
          <p:nvPr/>
        </p:nvSpPr>
        <p:spPr>
          <a:xfrm>
            <a:off x="685800" y="1234440"/>
            <a:ext cx="1069848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type"/>
          <p:cNvSpPr txBox="1"/>
          <p:nvPr/>
        </p:nvSpPr>
        <p:spPr>
          <a:xfrm>
            <a:off x="914400" y="1344168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井</a:t>
            </a:r>
            <a:endParaRPr lang="zh-CN" sz="1400"/>
          </a:p>
        </p:txBody>
      </p:sp>
      <p:sp>
        <p:nvSpPr>
          <p:cNvPr id="12" name="cnt"/>
          <p:cNvSpPr txBox="1"/>
          <p:nvPr/>
        </p:nvSpPr>
        <p:spPr>
          <a:xfrm>
            <a:off x="2057400" y="1344168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002855"/>
                </a:solidFill>
                <a:latin typeface="Microsoft YaHei"/>
                <a:ea typeface="Microsoft YaHei"/>
              </a:rPr>
              <a:t>21 张表</a:t>
            </a:r>
            <a:endParaRPr lang="zh-CN" sz="1400"/>
          </a:p>
        </p:txBody>
      </p:sp>
      <p:sp>
        <p:nvSpPr>
          <p:cNvPr id="13" name="desc"/>
          <p:cNvSpPr txBox="1"/>
          <p:nvPr/>
        </p:nvSpPr>
        <p:spPr>
          <a:xfrm>
            <a:off x="3429000" y="1344168"/>
            <a:ext cx="74980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00">
                <a:solidFill>
                  <a:srgbClr val="4F6583"/>
                </a:solidFill>
                <a:latin typeface="Microsoft YaHei"/>
                <a:ea typeface="Microsoft YaHei"/>
              </a:rPr>
              <a:t>井位服务、基础资料、井史、测试、分层、井斜、checkshot</a:t>
            </a:r>
            <a:endParaRPr lang="zh-CN" sz="1300"/>
          </a:p>
        </p:txBody>
      </p:sp>
      <p:sp>
        <p:nvSpPr>
          <p:cNvPr id="13" name="rowbg"/>
          <p:cNvSpPr txBox="1"/>
          <p:nvPr/>
        </p:nvSpPr>
        <p:spPr>
          <a:xfrm>
            <a:off x="685800" y="1947672"/>
            <a:ext cx="1069848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4" name="type"/>
          <p:cNvSpPr txBox="1"/>
          <p:nvPr/>
        </p:nvSpPr>
        <p:spPr>
          <a:xfrm>
            <a:off x="914400" y="20574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盆地</a:t>
            </a:r>
            <a:endParaRPr lang="zh-CN" sz="1400"/>
          </a:p>
        </p:txBody>
      </p:sp>
      <p:sp>
        <p:nvSpPr>
          <p:cNvPr id="15" name="cnt"/>
          <p:cNvSpPr txBox="1"/>
          <p:nvPr/>
        </p:nvSpPr>
        <p:spPr>
          <a:xfrm>
            <a:off x="2057400" y="2057400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002855"/>
                </a:solidFill>
                <a:latin typeface="Microsoft YaHei"/>
                <a:ea typeface="Microsoft YaHei"/>
              </a:rPr>
              <a:t>11 张表</a:t>
            </a:r>
            <a:endParaRPr lang="zh-CN" sz="1400"/>
          </a:p>
        </p:txBody>
      </p:sp>
      <p:sp>
        <p:nvSpPr>
          <p:cNvPr id="16" name="desc"/>
          <p:cNvSpPr txBox="1"/>
          <p:nvPr/>
        </p:nvSpPr>
        <p:spPr>
          <a:xfrm>
            <a:off x="3429000" y="2057400"/>
            <a:ext cx="74980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00">
                <a:solidFill>
                  <a:srgbClr val="4F6583"/>
                </a:solidFill>
                <a:latin typeface="Microsoft YaHei"/>
                <a:ea typeface="Microsoft YaHei"/>
              </a:rPr>
              <a:t>盆地范围、基础属性、地层、油气系统、play</a:t>
            </a:r>
            <a:endParaRPr lang="zh-CN" sz="1300"/>
          </a:p>
        </p:txBody>
      </p:sp>
      <p:sp>
        <p:nvSpPr>
          <p:cNvPr id="16" name="rowbg"/>
          <p:cNvSpPr txBox="1"/>
          <p:nvPr/>
        </p:nvSpPr>
        <p:spPr>
          <a:xfrm>
            <a:off x="685800" y="2660904"/>
            <a:ext cx="1069848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7" name="type"/>
          <p:cNvSpPr txBox="1"/>
          <p:nvPr/>
        </p:nvSpPr>
        <p:spPr>
          <a:xfrm>
            <a:off x="914400" y="2770632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区块</a:t>
            </a:r>
            <a:endParaRPr lang="zh-CN" sz="1400"/>
          </a:p>
        </p:txBody>
      </p:sp>
      <p:sp>
        <p:nvSpPr>
          <p:cNvPr id="18" name="cnt"/>
          <p:cNvSpPr txBox="1"/>
          <p:nvPr/>
        </p:nvSpPr>
        <p:spPr>
          <a:xfrm>
            <a:off x="2057400" y="2770632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002855"/>
                </a:solidFill>
                <a:latin typeface="Microsoft YaHei"/>
                <a:ea typeface="Microsoft YaHei"/>
              </a:rPr>
              <a:t>6 张表</a:t>
            </a:r>
            <a:endParaRPr lang="zh-CN" sz="1400"/>
          </a:p>
        </p:txBody>
      </p:sp>
      <p:sp>
        <p:nvSpPr>
          <p:cNvPr id="19" name="desc"/>
          <p:cNvSpPr txBox="1"/>
          <p:nvPr/>
        </p:nvSpPr>
        <p:spPr>
          <a:xfrm>
            <a:off x="3429000" y="2770632"/>
            <a:ext cx="74980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00">
                <a:solidFill>
                  <a:srgbClr val="4F6583"/>
                </a:solidFill>
                <a:latin typeface="Microsoft YaHei"/>
                <a:ea typeface="Microsoft YaHei"/>
              </a:rPr>
              <a:t>区块边界、历史、位置、轮廓、计划事件、公司权益</a:t>
            </a:r>
            <a:endParaRPr lang="zh-CN" sz="1300"/>
          </a:p>
        </p:txBody>
      </p:sp>
      <p:sp>
        <p:nvSpPr>
          <p:cNvPr id="19" name="rowbg"/>
          <p:cNvSpPr txBox="1"/>
          <p:nvPr/>
        </p:nvSpPr>
        <p:spPr>
          <a:xfrm>
            <a:off x="685800" y="3374136"/>
            <a:ext cx="1069848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0" name="type"/>
          <p:cNvSpPr txBox="1"/>
          <p:nvPr/>
        </p:nvSpPr>
        <p:spPr>
          <a:xfrm>
            <a:off x="914400" y="348386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合同</a:t>
            </a:r>
            <a:endParaRPr lang="zh-CN" sz="1400"/>
          </a:p>
        </p:txBody>
      </p:sp>
      <p:sp>
        <p:nvSpPr>
          <p:cNvPr id="21" name="cnt"/>
          <p:cNvSpPr txBox="1"/>
          <p:nvPr/>
        </p:nvSpPr>
        <p:spPr>
          <a:xfrm>
            <a:off x="2057400" y="3483864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002855"/>
                </a:solidFill>
                <a:latin typeface="Microsoft YaHei"/>
                <a:ea typeface="Microsoft YaHei"/>
              </a:rPr>
              <a:t>10 张表</a:t>
            </a:r>
            <a:endParaRPr lang="zh-CN" sz="1400"/>
          </a:p>
        </p:txBody>
      </p:sp>
      <p:sp>
        <p:nvSpPr>
          <p:cNvPr id="22" name="desc"/>
          <p:cNvSpPr txBox="1"/>
          <p:nvPr/>
        </p:nvSpPr>
        <p:spPr>
          <a:xfrm>
            <a:off x="3429000" y="3483864"/>
            <a:ext cx="74980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00">
                <a:solidFill>
                  <a:srgbClr val="4F6583"/>
                </a:solidFill>
                <a:latin typeface="Microsoft YaHei"/>
                <a:ea typeface="Microsoft YaHei"/>
              </a:rPr>
              <a:t>合同基础、历史、位置、承诺、公司权益、合同区块</a:t>
            </a:r>
            <a:endParaRPr lang="zh-CN" sz="1300"/>
          </a:p>
        </p:txBody>
      </p:sp>
      <p:sp>
        <p:nvSpPr>
          <p:cNvPr id="22" name="rowbg"/>
          <p:cNvSpPr txBox="1"/>
          <p:nvPr/>
        </p:nvSpPr>
        <p:spPr>
          <a:xfrm>
            <a:off x="685800" y="4087368"/>
            <a:ext cx="10698480" cy="5486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3" name="type"/>
          <p:cNvSpPr txBox="1"/>
          <p:nvPr/>
        </p:nvSpPr>
        <p:spPr>
          <a:xfrm>
            <a:off x="914400" y="4197096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油气田</a:t>
            </a:r>
            <a:endParaRPr lang="zh-CN" sz="1400"/>
          </a:p>
        </p:txBody>
      </p:sp>
      <p:sp>
        <p:nvSpPr>
          <p:cNvPr id="24" name="cnt"/>
          <p:cNvSpPr txBox="1"/>
          <p:nvPr/>
        </p:nvSpPr>
        <p:spPr>
          <a:xfrm>
            <a:off x="2057400" y="4197096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002855"/>
                </a:solidFill>
                <a:latin typeface="Microsoft YaHei"/>
                <a:ea typeface="Microsoft YaHei"/>
              </a:rPr>
              <a:t>17 张表</a:t>
            </a:r>
            <a:endParaRPr lang="zh-CN" sz="1400"/>
          </a:p>
        </p:txBody>
      </p:sp>
      <p:sp>
        <p:nvSpPr>
          <p:cNvPr id="25" name="desc"/>
          <p:cNvSpPr txBox="1"/>
          <p:nvPr/>
        </p:nvSpPr>
        <p:spPr>
          <a:xfrm>
            <a:off x="3429000" y="4197096"/>
            <a:ext cx="7498079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00">
                <a:solidFill>
                  <a:srgbClr val="4F6583"/>
                </a:solidFill>
                <a:latin typeface="Microsoft YaHei"/>
                <a:ea typeface="Microsoft YaHei"/>
              </a:rPr>
              <a:t>油气田边界、储量、生产、事件、权益、图片目录</a:t>
            </a:r>
            <a:endParaRPr lang="zh-CN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MapGIS 空间服务接入成果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已形成“Shapefile 发布服务、前端查询服务、地图对象展示”的标准流程。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07</a:t>
            </a:r>
            <a:endParaRPr lang="zh-CN" sz="1000"/>
          </a:p>
        </p:txBody>
      </p:sp>
      <p:sp>
        <p:nvSpPr>
          <p:cNvPr id="10" name="wells card"/>
          <p:cNvSpPr txBox="1"/>
          <p:nvPr/>
        </p:nvSpPr>
        <p:spPr>
          <a:xfrm>
            <a:off x="594360" y="1234440"/>
            <a:ext cx="2560320" cy="12801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wells tag"/>
          <p:cNvSpPr txBox="1"/>
          <p:nvPr/>
        </p:nvSpPr>
        <p:spPr>
          <a:xfrm>
            <a:off x="758952" y="1399032"/>
            <a:ext cx="22311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wells</a:t>
            </a:r>
            <a:endParaRPr lang="zh-CN" sz="1100"/>
          </a:p>
        </p:txBody>
      </p:sp>
      <p:sp>
        <p:nvSpPr>
          <p:cNvPr id="12" name="wells body"/>
          <p:cNvSpPr txBox="1"/>
          <p:nvPr/>
        </p:nvSpPr>
        <p:spPr>
          <a:xfrm>
            <a:off x="758952" y="1764792"/>
            <a:ext cx="2231136" cy="5943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Point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井位点服务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/FeatureServer/query</a:t>
            </a:r>
            <a:endParaRPr lang="zh-CN" sz="1320"/>
          </a:p>
        </p:txBody>
      </p:sp>
      <p:sp>
        <p:nvSpPr>
          <p:cNvPr id="20" name="main_basins card"/>
          <p:cNvSpPr txBox="1"/>
          <p:nvPr/>
        </p:nvSpPr>
        <p:spPr>
          <a:xfrm>
            <a:off x="3429000" y="1234440"/>
            <a:ext cx="2560320" cy="12801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main_basins tag"/>
          <p:cNvSpPr txBox="1"/>
          <p:nvPr/>
        </p:nvSpPr>
        <p:spPr>
          <a:xfrm>
            <a:off x="3593592" y="1399032"/>
            <a:ext cx="22311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main_basins</a:t>
            </a:r>
            <a:endParaRPr lang="zh-CN" sz="1100"/>
          </a:p>
        </p:txBody>
      </p:sp>
      <p:sp>
        <p:nvSpPr>
          <p:cNvPr id="22" name="main_basins body"/>
          <p:cNvSpPr txBox="1"/>
          <p:nvPr/>
        </p:nvSpPr>
        <p:spPr>
          <a:xfrm>
            <a:off x="3593592" y="1764792"/>
            <a:ext cx="2231136" cy="5943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Polygon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盆地面服务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/FeatureServer/query</a:t>
            </a:r>
            <a:endParaRPr lang="zh-CN" sz="1320"/>
          </a:p>
        </p:txBody>
      </p:sp>
      <p:sp>
        <p:nvSpPr>
          <p:cNvPr id="30" name="contract_blocks card"/>
          <p:cNvSpPr txBox="1"/>
          <p:nvPr/>
        </p:nvSpPr>
        <p:spPr>
          <a:xfrm>
            <a:off x="6263640" y="1234440"/>
            <a:ext cx="2560320" cy="12801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contract_blocks tag"/>
          <p:cNvSpPr txBox="1"/>
          <p:nvPr/>
        </p:nvSpPr>
        <p:spPr>
          <a:xfrm>
            <a:off x="6428231" y="1399032"/>
            <a:ext cx="22311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contract_blocks</a:t>
            </a:r>
            <a:endParaRPr lang="zh-CN" sz="1100"/>
          </a:p>
        </p:txBody>
      </p:sp>
      <p:sp>
        <p:nvSpPr>
          <p:cNvPr id="32" name="contract_blocks body"/>
          <p:cNvSpPr txBox="1"/>
          <p:nvPr/>
        </p:nvSpPr>
        <p:spPr>
          <a:xfrm>
            <a:off x="6428231" y="1764792"/>
            <a:ext cx="2231136" cy="5943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Polygon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合同区块面服务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/FeatureServer/query</a:t>
            </a:r>
            <a:endParaRPr lang="zh-CN" sz="1320"/>
          </a:p>
        </p:txBody>
      </p:sp>
      <p:sp>
        <p:nvSpPr>
          <p:cNvPr id="40" name="fields card"/>
          <p:cNvSpPr txBox="1"/>
          <p:nvPr/>
        </p:nvSpPr>
        <p:spPr>
          <a:xfrm>
            <a:off x="9098280" y="1234440"/>
            <a:ext cx="2560320" cy="12801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41" name="fields tag"/>
          <p:cNvSpPr txBox="1"/>
          <p:nvPr/>
        </p:nvSpPr>
        <p:spPr>
          <a:xfrm>
            <a:off x="9262872" y="1399032"/>
            <a:ext cx="22311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fields</a:t>
            </a:r>
            <a:endParaRPr lang="zh-CN" sz="1100"/>
          </a:p>
        </p:txBody>
      </p:sp>
      <p:sp>
        <p:nvSpPr>
          <p:cNvPr id="42" name="fields body"/>
          <p:cNvSpPr txBox="1"/>
          <p:nvPr/>
        </p:nvSpPr>
        <p:spPr>
          <a:xfrm>
            <a:off x="9262872" y="1764792"/>
            <a:ext cx="2231136" cy="5943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Polygon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油气田面服务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/FeatureServer/query</a:t>
            </a:r>
            <a:endParaRPr lang="zh-CN" sz="1320"/>
          </a:p>
        </p:txBody>
      </p:sp>
      <p:sp>
        <p:nvSpPr>
          <p:cNvPr id="60" name="service note"/>
          <p:cNvSpPr txBox="1"/>
          <p:nvPr/>
        </p:nvSpPr>
        <p:spPr>
          <a:xfrm>
            <a:off x="777240" y="3200400"/>
            <a:ext cx="10469880" cy="13258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AFC8F2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前端不直接访问 localhost:8089，而是通过 Node 的 /igs/ 代理统一访问 MapGIS 服务，降低跨域和路径配置复杂度。服务不可用时，系统保留本地 GeoJSON 回退能力。</a:t>
            </a:r>
            <a:endParaRPr lang="zh-CN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平台模块划分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已从“所有内容堆在单页”调整为模块化平台结构。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08</a:t>
            </a:r>
            <a:endParaRPr lang="zh-CN" sz="1000"/>
          </a:p>
        </p:txBody>
      </p:sp>
      <p:sp>
        <p:nvSpPr>
          <p:cNvPr id="10" name="数据概览 card"/>
          <p:cNvSpPr txBox="1"/>
          <p:nvPr/>
        </p:nvSpPr>
        <p:spPr>
          <a:xfrm>
            <a:off x="685800" y="1325880"/>
            <a:ext cx="5074920" cy="15087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数据概览 tag"/>
          <p:cNvSpPr txBox="1"/>
          <p:nvPr/>
        </p:nvSpPr>
        <p:spPr>
          <a:xfrm>
            <a:off x="850392" y="149047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数据概览</a:t>
            </a:r>
            <a:endParaRPr lang="zh-CN" sz="1100"/>
          </a:p>
        </p:txBody>
      </p:sp>
      <p:sp>
        <p:nvSpPr>
          <p:cNvPr id="12" name="数据概览 body"/>
          <p:cNvSpPr txBox="1"/>
          <p:nvPr/>
        </p:nvSpPr>
        <p:spPr>
          <a:xfrm>
            <a:off x="850392" y="1856231"/>
            <a:ext cx="4745736" cy="8229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掌握当前数据规模、资料覆盖和建设进度。</a:t>
            </a:r>
            <a:endParaRPr lang="zh-CN" sz="1320"/>
          </a:p>
        </p:txBody>
      </p:sp>
      <p:sp>
        <p:nvSpPr>
          <p:cNvPr id="20" name="数据信息模块 card"/>
          <p:cNvSpPr txBox="1"/>
          <p:nvPr/>
        </p:nvSpPr>
        <p:spPr>
          <a:xfrm>
            <a:off x="6263640" y="1325880"/>
            <a:ext cx="5074920" cy="15087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数据信息模块 tag"/>
          <p:cNvSpPr txBox="1"/>
          <p:nvPr/>
        </p:nvSpPr>
        <p:spPr>
          <a:xfrm>
            <a:off x="6428231" y="149047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数据信息模块</a:t>
            </a:r>
            <a:endParaRPr lang="zh-CN" sz="1100"/>
          </a:p>
        </p:txBody>
      </p:sp>
      <p:sp>
        <p:nvSpPr>
          <p:cNvPr id="22" name="数据信息模块 body"/>
          <p:cNvSpPr txBox="1"/>
          <p:nvPr/>
        </p:nvSpPr>
        <p:spPr>
          <a:xfrm>
            <a:off x="6428231" y="1856231"/>
            <a:ext cx="4745736" cy="8229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统一查看空间、盆地、区块、合同、油气田、井和目录信息。</a:t>
            </a:r>
            <a:endParaRPr lang="zh-CN" sz="1320"/>
          </a:p>
        </p:txBody>
      </p:sp>
      <p:sp>
        <p:nvSpPr>
          <p:cNvPr id="30" name="评价算法模块 card"/>
          <p:cNvSpPr txBox="1"/>
          <p:nvPr/>
        </p:nvSpPr>
        <p:spPr>
          <a:xfrm>
            <a:off x="685800" y="3291839"/>
            <a:ext cx="5074920" cy="15087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评价算法模块 tag"/>
          <p:cNvSpPr txBox="1"/>
          <p:nvPr/>
        </p:nvSpPr>
        <p:spPr>
          <a:xfrm>
            <a:off x="850392" y="345643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评价算法模块</a:t>
            </a:r>
            <a:endParaRPr lang="zh-CN" sz="1100"/>
          </a:p>
        </p:txBody>
      </p:sp>
      <p:sp>
        <p:nvSpPr>
          <p:cNvPr id="32" name="评价算法模块 body"/>
          <p:cNvSpPr txBox="1"/>
          <p:nvPr/>
        </p:nvSpPr>
        <p:spPr>
          <a:xfrm>
            <a:off x="850392" y="3822191"/>
            <a:ext cx="4745736" cy="8229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围绕对象开展可解释评价、排序和分项得分展示。</a:t>
            </a:r>
            <a:endParaRPr lang="zh-CN" sz="1320"/>
          </a:p>
        </p:txBody>
      </p:sp>
      <p:sp>
        <p:nvSpPr>
          <p:cNvPr id="40" name="服务状态 card"/>
          <p:cNvSpPr txBox="1"/>
          <p:nvPr/>
        </p:nvSpPr>
        <p:spPr>
          <a:xfrm>
            <a:off x="6263640" y="3291839"/>
            <a:ext cx="5074920" cy="15087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41" name="服务状态 tag"/>
          <p:cNvSpPr txBox="1"/>
          <p:nvPr/>
        </p:nvSpPr>
        <p:spPr>
          <a:xfrm>
            <a:off x="6428231" y="345643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服务状态</a:t>
            </a:r>
            <a:endParaRPr lang="zh-CN" sz="1100"/>
          </a:p>
        </p:txBody>
      </p:sp>
      <p:sp>
        <p:nvSpPr>
          <p:cNvPr id="42" name="服务状态 body"/>
          <p:cNvSpPr txBox="1"/>
          <p:nvPr/>
        </p:nvSpPr>
        <p:spPr>
          <a:xfrm>
            <a:off x="6428231" y="3822191"/>
            <a:ext cx="4745736" cy="82295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检查 MapGIS 服务、API、图层目录和数据治理风险。</a:t>
            </a:r>
            <a:endParaRPr lang="zh-CN" sz="13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数据信息模块功能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当前最主要的数据工作区，承担对象浏览、空间定位和专题资料查看。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09</a:t>
            </a:r>
            <a:endParaRPr lang="zh-CN" sz="1000"/>
          </a:p>
        </p:txBody>
      </p:sp>
      <p:sp>
        <p:nvSpPr>
          <p:cNvPr id="10" name="空间总览 card"/>
          <p:cNvSpPr txBox="1"/>
          <p:nvPr/>
        </p:nvSpPr>
        <p:spPr>
          <a:xfrm>
            <a:off x="594360" y="1188720"/>
            <a:ext cx="338328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空间总览 tag"/>
          <p:cNvSpPr txBox="1"/>
          <p:nvPr/>
        </p:nvSpPr>
        <p:spPr>
          <a:xfrm>
            <a:off x="758952" y="1353312"/>
            <a:ext cx="30540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空间总览</a:t>
            </a:r>
            <a:endParaRPr lang="zh-CN" sz="1100"/>
          </a:p>
        </p:txBody>
      </p:sp>
      <p:sp>
        <p:nvSpPr>
          <p:cNvPr id="12" name="空间总览 body"/>
          <p:cNvSpPr txBox="1"/>
          <p:nvPr/>
        </p:nvSpPr>
        <p:spPr>
          <a:xfrm>
            <a:off x="758952" y="1719072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图层开关、对象点击、空间定位、运行状态摘要。</a:t>
            </a:r>
            <a:endParaRPr lang="zh-CN" sz="1320"/>
          </a:p>
        </p:txBody>
      </p:sp>
      <p:sp>
        <p:nvSpPr>
          <p:cNvPr id="20" name="对象信息 card"/>
          <p:cNvSpPr txBox="1"/>
          <p:nvPr/>
        </p:nvSpPr>
        <p:spPr>
          <a:xfrm>
            <a:off x="4389120" y="1188720"/>
            <a:ext cx="338328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对象信息 tag"/>
          <p:cNvSpPr txBox="1"/>
          <p:nvPr/>
        </p:nvSpPr>
        <p:spPr>
          <a:xfrm>
            <a:off x="4553712" y="1353312"/>
            <a:ext cx="30540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对象信息</a:t>
            </a:r>
            <a:endParaRPr lang="zh-CN" sz="1100"/>
          </a:p>
        </p:txBody>
      </p:sp>
      <p:sp>
        <p:nvSpPr>
          <p:cNvPr id="22" name="对象信息 body"/>
          <p:cNvSpPr txBox="1"/>
          <p:nvPr/>
        </p:nvSpPr>
        <p:spPr>
          <a:xfrm>
            <a:off x="4553712" y="1719072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盆地、区块、合同、油气田、井资料按类型切换。</a:t>
            </a:r>
            <a:endParaRPr lang="zh-CN" sz="1320"/>
          </a:p>
        </p:txBody>
      </p:sp>
      <p:sp>
        <p:nvSpPr>
          <p:cNvPr id="30" name="资料目录 card"/>
          <p:cNvSpPr txBox="1"/>
          <p:nvPr/>
        </p:nvSpPr>
        <p:spPr>
          <a:xfrm>
            <a:off x="8183880" y="1188720"/>
            <a:ext cx="338328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资料目录 tag"/>
          <p:cNvSpPr txBox="1"/>
          <p:nvPr/>
        </p:nvSpPr>
        <p:spPr>
          <a:xfrm>
            <a:off x="8348472" y="1353312"/>
            <a:ext cx="30540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资料目录</a:t>
            </a:r>
            <a:endParaRPr lang="zh-CN" sz="1100"/>
          </a:p>
        </p:txBody>
      </p:sp>
      <p:sp>
        <p:nvSpPr>
          <p:cNvPr id="32" name="资料目录 body"/>
          <p:cNvSpPr txBox="1"/>
          <p:nvPr/>
        </p:nvSpPr>
        <p:spPr>
          <a:xfrm>
            <a:off x="8348472" y="1719072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列出已接入服务数据和表型数据，方便核对资料覆盖。</a:t>
            </a:r>
            <a:endParaRPr lang="zh-CN" sz="1320"/>
          </a:p>
        </p:txBody>
      </p:sp>
      <p:sp>
        <p:nvSpPr>
          <p:cNvPr id="40" name="筛选检索 card"/>
          <p:cNvSpPr txBox="1"/>
          <p:nvPr/>
        </p:nvSpPr>
        <p:spPr>
          <a:xfrm>
            <a:off x="594360" y="2971800"/>
            <a:ext cx="338328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41" name="筛选检索 tag"/>
          <p:cNvSpPr txBox="1"/>
          <p:nvPr/>
        </p:nvSpPr>
        <p:spPr>
          <a:xfrm>
            <a:off x="758952" y="3136392"/>
            <a:ext cx="30540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筛选检索</a:t>
            </a:r>
            <a:endParaRPr lang="zh-CN" sz="1100"/>
          </a:p>
        </p:txBody>
      </p:sp>
      <p:sp>
        <p:nvSpPr>
          <p:cNvPr id="42" name="筛选检索 body"/>
          <p:cNvSpPr txBox="1"/>
          <p:nvPr/>
        </p:nvSpPr>
        <p:spPr>
          <a:xfrm>
            <a:off x="758952" y="3502152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按关键字、国家、盆地、作业者等条件筛选。</a:t>
            </a:r>
            <a:endParaRPr lang="zh-CN" sz="1320"/>
          </a:p>
        </p:txBody>
      </p:sp>
      <p:sp>
        <p:nvSpPr>
          <p:cNvPr id="50" name="对象联动 card"/>
          <p:cNvSpPr txBox="1"/>
          <p:nvPr/>
        </p:nvSpPr>
        <p:spPr>
          <a:xfrm>
            <a:off x="4389120" y="2971800"/>
            <a:ext cx="338328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51" name="对象联动 tag"/>
          <p:cNvSpPr txBox="1"/>
          <p:nvPr/>
        </p:nvSpPr>
        <p:spPr>
          <a:xfrm>
            <a:off x="4553712" y="3136392"/>
            <a:ext cx="30540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对象联动</a:t>
            </a:r>
            <a:endParaRPr lang="zh-CN" sz="1100"/>
          </a:p>
        </p:txBody>
      </p:sp>
      <p:sp>
        <p:nvSpPr>
          <p:cNvPr id="52" name="对象联动 body"/>
          <p:cNvSpPr txBox="1"/>
          <p:nvPr/>
        </p:nvSpPr>
        <p:spPr>
          <a:xfrm>
            <a:off x="4553712" y="3502152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地图对象、右侧详情、专题卡片同步更新。</a:t>
            </a:r>
            <a:endParaRPr lang="zh-CN" sz="1320"/>
          </a:p>
        </p:txBody>
      </p:sp>
      <p:sp>
        <p:nvSpPr>
          <p:cNvPr id="60" name="扩展预留 card"/>
          <p:cNvSpPr txBox="1"/>
          <p:nvPr/>
        </p:nvSpPr>
        <p:spPr>
          <a:xfrm>
            <a:off x="8183880" y="2971800"/>
            <a:ext cx="3383280" cy="13258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61" name="扩展预留 tag"/>
          <p:cNvSpPr txBox="1"/>
          <p:nvPr/>
        </p:nvSpPr>
        <p:spPr>
          <a:xfrm>
            <a:off x="8348472" y="3136392"/>
            <a:ext cx="305409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扩展预留</a:t>
            </a:r>
            <a:endParaRPr lang="zh-CN" sz="1100"/>
          </a:p>
        </p:txBody>
      </p:sp>
      <p:sp>
        <p:nvSpPr>
          <p:cNvPr id="62" name="扩展预留 body"/>
          <p:cNvSpPr txBox="1"/>
          <p:nvPr/>
        </p:nvSpPr>
        <p:spPr>
          <a:xfrm>
            <a:off x="8348472" y="3502152"/>
            <a:ext cx="3054096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可继续接入公司、储层、前景区、油气系统等对象。</a:t>
            </a:r>
            <a:endParaRPr lang="zh-CN" sz="13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井资料与测井曲线展示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围绕井对象整合空间位置、井档案、井史、专题表和曲线展示框架。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10</a:t>
            </a:r>
            <a:endParaRPr lang="zh-CN" sz="1000"/>
          </a:p>
        </p:txBody>
      </p:sp>
      <p:sp>
        <p:nvSpPr>
          <p:cNvPr id="10" name="井资料摘要 card"/>
          <p:cNvSpPr txBox="1"/>
          <p:nvPr/>
        </p:nvSpPr>
        <p:spPr>
          <a:xfrm>
            <a:off x="685800" y="1143000"/>
            <a:ext cx="3474720" cy="40233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井资料摘要 tag"/>
          <p:cNvSpPr txBox="1"/>
          <p:nvPr/>
        </p:nvSpPr>
        <p:spPr>
          <a:xfrm>
            <a:off x="850392" y="1307592"/>
            <a:ext cx="31455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井资料摘要</a:t>
            </a:r>
            <a:endParaRPr lang="zh-CN" sz="1100"/>
          </a:p>
        </p:txBody>
      </p:sp>
      <p:sp>
        <p:nvSpPr>
          <p:cNvPr id="12" name="井资料摘要 body"/>
          <p:cNvSpPr txBox="1"/>
          <p:nvPr/>
        </p:nvSpPr>
        <p:spPr>
          <a:xfrm>
            <a:off x="850392" y="1673352"/>
            <a:ext cx="3145536" cy="3337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井名、井号、盆地、作业者、井型、技术状态、开钻/完钻日期、总井深、地理位置。</a:t>
            </a:r>
            <a:endParaRPr lang="zh-CN" sz="1320"/>
          </a:p>
        </p:txBody>
      </p:sp>
      <p:sp>
        <p:nvSpPr>
          <p:cNvPr id="20" name="井专题资料 card"/>
          <p:cNvSpPr txBox="1"/>
          <p:nvPr/>
        </p:nvSpPr>
        <p:spPr>
          <a:xfrm>
            <a:off x="4434840" y="1143000"/>
            <a:ext cx="3474720" cy="40233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井专题资料 tag"/>
          <p:cNvSpPr txBox="1"/>
          <p:nvPr/>
        </p:nvSpPr>
        <p:spPr>
          <a:xfrm>
            <a:off x="4599431" y="1307592"/>
            <a:ext cx="31455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井专题资料</a:t>
            </a:r>
            <a:endParaRPr lang="zh-CN" sz="1100"/>
          </a:p>
        </p:txBody>
      </p:sp>
      <p:sp>
        <p:nvSpPr>
          <p:cNvPr id="22" name="井专题资料 body"/>
          <p:cNvSpPr txBox="1"/>
          <p:nvPr/>
        </p:nvSpPr>
        <p:spPr>
          <a:xfrm>
            <a:off x="4599431" y="1673352"/>
            <a:ext cx="3145536" cy="3337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井史、测试、分层 Tops、井斜、checkshot、设备、成本、采样等表型资料。</a:t>
            </a:r>
            <a:endParaRPr lang="zh-CN" sz="1320"/>
          </a:p>
        </p:txBody>
      </p:sp>
      <p:sp>
        <p:nvSpPr>
          <p:cNvPr id="30" name="测井曲线区 card"/>
          <p:cNvSpPr txBox="1"/>
          <p:nvPr/>
        </p:nvSpPr>
        <p:spPr>
          <a:xfrm>
            <a:off x="8183879" y="1143000"/>
            <a:ext cx="3474720" cy="402336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测井曲线区 tag"/>
          <p:cNvSpPr txBox="1"/>
          <p:nvPr/>
        </p:nvSpPr>
        <p:spPr>
          <a:xfrm>
            <a:off x="8348471" y="1307592"/>
            <a:ext cx="31455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测井曲线区</a:t>
            </a:r>
            <a:endParaRPr lang="zh-CN" sz="1100"/>
          </a:p>
        </p:txBody>
      </p:sp>
      <p:sp>
        <p:nvSpPr>
          <p:cNvPr id="32" name="测井曲线区 body"/>
          <p:cNvSpPr txBox="1"/>
          <p:nvPr/>
        </p:nvSpPr>
        <p:spPr>
          <a:xfrm>
            <a:off x="8348471" y="1673352"/>
            <a:ext cx="3145536" cy="333756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当前完成曲线展示框架，仍以样例曲线占位。下一步接入 LAS/DLIS/LIS 或真实深度采样曲线。</a:t>
            </a:r>
            <a:endParaRPr lang="zh-CN" sz="13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评价算法模块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当前已形成评价模块雏形，后续需要向专业模型、参数输入和模型管理深化。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11</a:t>
            </a:r>
            <a:endParaRPr lang="zh-CN" sz="1000"/>
          </a:p>
        </p:txBody>
      </p:sp>
      <p:sp>
        <p:nvSpPr>
          <p:cNvPr id="10" name="已实现 card"/>
          <p:cNvSpPr txBox="1"/>
          <p:nvPr/>
        </p:nvSpPr>
        <p:spPr>
          <a:xfrm>
            <a:off x="640080" y="1234440"/>
            <a:ext cx="3429000" cy="1600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已实现 tag"/>
          <p:cNvSpPr txBox="1"/>
          <p:nvPr/>
        </p:nvSpPr>
        <p:spPr>
          <a:xfrm>
            <a:off x="804671" y="1399032"/>
            <a:ext cx="309981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已实现</a:t>
            </a:r>
            <a:endParaRPr lang="zh-CN" sz="1100"/>
          </a:p>
        </p:txBody>
      </p:sp>
      <p:sp>
        <p:nvSpPr>
          <p:cNvPr id="12" name="已实现 body"/>
          <p:cNvSpPr txBox="1"/>
          <p:nvPr/>
        </p:nvSpPr>
        <p:spPr>
          <a:xfrm>
            <a:off x="804671" y="1764792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盆地、区块、油气田、井对象的可解释综合评价、等级建议和分项得分。</a:t>
            </a:r>
            <a:endParaRPr lang="zh-CN" sz="1320"/>
          </a:p>
        </p:txBody>
      </p:sp>
      <p:sp>
        <p:nvSpPr>
          <p:cNvPr id="20" name="计算依据 card"/>
          <p:cNvSpPr txBox="1"/>
          <p:nvPr/>
        </p:nvSpPr>
        <p:spPr>
          <a:xfrm>
            <a:off x="4389120" y="1234440"/>
            <a:ext cx="3429000" cy="1600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计算依据 tag"/>
          <p:cNvSpPr txBox="1"/>
          <p:nvPr/>
        </p:nvSpPr>
        <p:spPr>
          <a:xfrm>
            <a:off x="4553712" y="1399032"/>
            <a:ext cx="309981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计算依据</a:t>
            </a:r>
            <a:endParaRPr lang="zh-CN" sz="1100"/>
          </a:p>
        </p:txBody>
      </p:sp>
      <p:sp>
        <p:nvSpPr>
          <p:cNvPr id="22" name="计算依据 body"/>
          <p:cNvSpPr txBox="1"/>
          <p:nvPr/>
        </p:nvSpPr>
        <p:spPr>
          <a:xfrm>
            <a:off x="4553712" y="1764792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当前基于资源规模、生产状态、面积/水深/深度、资料完整度等字段进行规则化试算。</a:t>
            </a:r>
            <a:endParaRPr lang="zh-CN" sz="1320"/>
          </a:p>
        </p:txBody>
      </p:sp>
      <p:sp>
        <p:nvSpPr>
          <p:cNvPr id="30" name="待完善 card"/>
          <p:cNvSpPr txBox="1"/>
          <p:nvPr/>
        </p:nvSpPr>
        <p:spPr>
          <a:xfrm>
            <a:off x="8138160" y="1234440"/>
            <a:ext cx="3429000" cy="1600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待完善 tag"/>
          <p:cNvSpPr txBox="1"/>
          <p:nvPr/>
        </p:nvSpPr>
        <p:spPr>
          <a:xfrm>
            <a:off x="8302752" y="1399032"/>
            <a:ext cx="309981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待完善</a:t>
            </a:r>
            <a:endParaRPr lang="zh-CN" sz="1100"/>
          </a:p>
        </p:txBody>
      </p:sp>
      <p:sp>
        <p:nvSpPr>
          <p:cNvPr id="32" name="待完善 body"/>
          <p:cNvSpPr txBox="1"/>
          <p:nvPr/>
        </p:nvSpPr>
        <p:spPr>
          <a:xfrm>
            <a:off x="8302752" y="1764792"/>
            <a:ext cx="3099816" cy="9144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参数输入、权重配置、公式依据、专家校验、模型版本和结果保存。</a:t>
            </a:r>
            <a:endParaRPr lang="zh-CN" sz="1320"/>
          </a:p>
        </p:txBody>
      </p:sp>
      <p:sp>
        <p:nvSpPr>
          <p:cNvPr id="50" name="formula"/>
          <p:cNvSpPr txBox="1"/>
          <p:nvPr/>
        </p:nvSpPr>
        <p:spPr>
          <a:xfrm>
            <a:off x="914400" y="3657600"/>
            <a:ext cx="10332720" cy="685800"/>
          </a:xfrm>
          <a:prstGeom prst="round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c"/>
            <a:r>
              <a:rPr lang="zh-CN" sz="2200" b="1">
                <a:solidFill>
                  <a:srgbClr val="FFFFFF"/>
                </a:solidFill>
                <a:latin typeface="Microsoft YaHei"/>
                <a:ea typeface="Microsoft YaHei"/>
              </a:rPr>
              <a:t>综合得分 = Σ（指标标准化得分 × 指标权重）</a:t>
            </a:r>
            <a:endParaRPr lang="zh-CN"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阶段性主要成果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既有数据工作量，也有平台工程和业务功能沉淀。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12</a:t>
            </a:r>
            <a:endParaRPr lang="zh-CN" sz="1000"/>
          </a:p>
        </p:txBody>
      </p:sp>
      <p:sp>
        <p:nvSpPr>
          <p:cNvPr id="10" name="outcome"/>
          <p:cNvSpPr txBox="1"/>
          <p:nvPr/>
        </p:nvSpPr>
        <p:spPr>
          <a:xfrm>
            <a:off x="868680" y="1234440"/>
            <a:ext cx="10378440" cy="457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1. 完成平台从单页 Demo 到模块化系统的重构。</a:t>
            </a:r>
            <a:endParaRPr lang="zh-CN" sz="1600"/>
          </a:p>
        </p:txBody>
      </p:sp>
      <p:sp>
        <p:nvSpPr>
          <p:cNvPr id="11" name="outcome"/>
          <p:cNvSpPr txBox="1"/>
          <p:nvPr/>
        </p:nvSpPr>
        <p:spPr>
          <a:xfrm>
            <a:off x="868680" y="1984248"/>
            <a:ext cx="10378440" cy="457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2. 打通真实 Shapefile 数据在 MapGIS IGServer 中发布并由前端读取的链路。</a:t>
            </a:r>
            <a:endParaRPr lang="zh-CN" sz="1600"/>
          </a:p>
        </p:txBody>
      </p:sp>
      <p:sp>
        <p:nvSpPr>
          <p:cNvPr id="12" name="outcome"/>
          <p:cNvSpPr txBox="1"/>
          <p:nvPr/>
        </p:nvSpPr>
        <p:spPr>
          <a:xfrm>
            <a:off x="868680" y="2734056"/>
            <a:ext cx="10378440" cy="457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3. 完成井、盆地、区块、合同、油气田多类真实数据接入和专题表整理。</a:t>
            </a:r>
            <a:endParaRPr lang="zh-CN" sz="1600"/>
          </a:p>
        </p:txBody>
      </p:sp>
      <p:sp>
        <p:nvSpPr>
          <p:cNvPr id="13" name="outcome"/>
          <p:cNvSpPr txBox="1"/>
          <p:nvPr/>
        </p:nvSpPr>
        <p:spPr>
          <a:xfrm>
            <a:off x="868680" y="3483864"/>
            <a:ext cx="10378440" cy="457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4. 建立对象资料展示、地图联动、数据目录和服务状态检查能力。</a:t>
            </a:r>
            <a:endParaRPr lang="zh-CN" sz="1600"/>
          </a:p>
        </p:txBody>
      </p:sp>
      <p:sp>
        <p:nvSpPr>
          <p:cNvPr id="14" name="outcome"/>
          <p:cNvSpPr txBox="1"/>
          <p:nvPr/>
        </p:nvSpPr>
        <p:spPr>
          <a:xfrm>
            <a:off x="868680" y="4233672"/>
            <a:ext cx="10378440" cy="4572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>
            <a:pPr algn="l"/>
            <a:r>
              <a:rPr lang="zh-CN" sz="1600" b="1">
                <a:solidFill>
                  <a:srgbClr val="002855"/>
                </a:solidFill>
                <a:latin typeface="Microsoft YaHei"/>
                <a:ea typeface="Microsoft YaHei"/>
              </a:rPr>
              <a:t>5. 形成评价算法模块原型，为后续综合评价决策系统奠定基础。</a:t>
            </a:r>
            <a:endParaRPr lang="zh-CN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当前存在问题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问题主要集中在数据库、数据治理、真实曲线和评价模型专业化几个方面。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13</a:t>
            </a:r>
            <a:endParaRPr lang="zh-CN" sz="1000"/>
          </a:p>
        </p:txBody>
      </p:sp>
      <p:sp>
        <p:nvSpPr>
          <p:cNvPr id="10" name="数据库尚未建立 card"/>
          <p:cNvSpPr txBox="1"/>
          <p:nvPr/>
        </p:nvSpPr>
        <p:spPr>
          <a:xfrm>
            <a:off x="685800" y="1188720"/>
            <a:ext cx="5074920" cy="10972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数据库尚未建立 tag"/>
          <p:cNvSpPr txBox="1"/>
          <p:nvPr/>
        </p:nvSpPr>
        <p:spPr>
          <a:xfrm>
            <a:off x="850392" y="135331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B04A2F"/>
                </a:solidFill>
                <a:latin typeface="Microsoft YaHei"/>
                <a:ea typeface="Microsoft YaHei"/>
              </a:rPr>
              <a:t>数据库尚未建立</a:t>
            </a:r>
            <a:endParaRPr lang="zh-CN" sz="1100"/>
          </a:p>
        </p:txBody>
      </p:sp>
      <p:sp>
        <p:nvSpPr>
          <p:cNvPr id="12" name="数据库尚未建立 body"/>
          <p:cNvSpPr txBox="1"/>
          <p:nvPr/>
        </p:nvSpPr>
        <p:spPr>
          <a:xfrm>
            <a:off x="850392" y="1719072"/>
            <a:ext cx="4745736" cy="41147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目前仍以文件和 MapGIS 服务为主，缺少统一入库、版本、权限和更新管理。</a:t>
            </a:r>
            <a:endParaRPr lang="zh-CN" sz="1320"/>
          </a:p>
        </p:txBody>
      </p:sp>
      <p:sp>
        <p:nvSpPr>
          <p:cNvPr id="20" name="真实曲线不足 card"/>
          <p:cNvSpPr txBox="1"/>
          <p:nvPr/>
        </p:nvSpPr>
        <p:spPr>
          <a:xfrm>
            <a:off x="6217920" y="1188720"/>
            <a:ext cx="5074920" cy="10972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真实曲线不足 tag"/>
          <p:cNvSpPr txBox="1"/>
          <p:nvPr/>
        </p:nvSpPr>
        <p:spPr>
          <a:xfrm>
            <a:off x="6382512" y="135331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B04A2F"/>
                </a:solidFill>
                <a:latin typeface="Microsoft YaHei"/>
                <a:ea typeface="Microsoft YaHei"/>
              </a:rPr>
              <a:t>真实曲线不足</a:t>
            </a:r>
            <a:endParaRPr lang="zh-CN" sz="1100"/>
          </a:p>
        </p:txBody>
      </p:sp>
      <p:sp>
        <p:nvSpPr>
          <p:cNvPr id="22" name="真实曲线不足 body"/>
          <p:cNvSpPr txBox="1"/>
          <p:nvPr/>
        </p:nvSpPr>
        <p:spPr>
          <a:xfrm>
            <a:off x="6382512" y="1719072"/>
            <a:ext cx="4745736" cy="41147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LAS/DLIS/LIS 等真实测井曲线尚未正式接入。</a:t>
            </a:r>
            <a:endParaRPr lang="zh-CN" sz="1320"/>
          </a:p>
        </p:txBody>
      </p:sp>
      <p:sp>
        <p:nvSpPr>
          <p:cNvPr id="30" name="评价模型仍是原型 card"/>
          <p:cNvSpPr txBox="1"/>
          <p:nvPr/>
        </p:nvSpPr>
        <p:spPr>
          <a:xfrm>
            <a:off x="685800" y="2697480"/>
            <a:ext cx="5074920" cy="10972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评价模型仍是原型 tag"/>
          <p:cNvSpPr txBox="1"/>
          <p:nvPr/>
        </p:nvSpPr>
        <p:spPr>
          <a:xfrm>
            <a:off x="850392" y="286207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B04A2F"/>
                </a:solidFill>
                <a:latin typeface="Microsoft YaHei"/>
                <a:ea typeface="Microsoft YaHei"/>
              </a:rPr>
              <a:t>评价模型仍是原型</a:t>
            </a:r>
            <a:endParaRPr lang="zh-CN" sz="1100"/>
          </a:p>
        </p:txBody>
      </p:sp>
      <p:sp>
        <p:nvSpPr>
          <p:cNvPr id="32" name="评价模型仍是原型 body"/>
          <p:cNvSpPr txBox="1"/>
          <p:nvPr/>
        </p:nvSpPr>
        <p:spPr>
          <a:xfrm>
            <a:off x="850392" y="3227832"/>
            <a:ext cx="4745736" cy="41147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专业指标体系、权重依据、参数输入和验证机制仍需补齐。</a:t>
            </a:r>
            <a:endParaRPr lang="zh-CN" sz="1320"/>
          </a:p>
        </p:txBody>
      </p:sp>
      <p:sp>
        <p:nvSpPr>
          <p:cNvPr id="40" name="数据治理不足 card"/>
          <p:cNvSpPr txBox="1"/>
          <p:nvPr/>
        </p:nvSpPr>
        <p:spPr>
          <a:xfrm>
            <a:off x="6217920" y="2697480"/>
            <a:ext cx="5074920" cy="10972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41" name="数据治理不足 tag"/>
          <p:cNvSpPr txBox="1"/>
          <p:nvPr/>
        </p:nvSpPr>
        <p:spPr>
          <a:xfrm>
            <a:off x="6382512" y="2862072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B04A2F"/>
                </a:solidFill>
                <a:latin typeface="Microsoft YaHei"/>
                <a:ea typeface="Microsoft YaHei"/>
              </a:rPr>
              <a:t>数据治理不足</a:t>
            </a:r>
            <a:endParaRPr lang="zh-CN" sz="1100"/>
          </a:p>
        </p:txBody>
      </p:sp>
      <p:sp>
        <p:nvSpPr>
          <p:cNvPr id="42" name="数据治理不足 body"/>
          <p:cNvSpPr txBox="1"/>
          <p:nvPr/>
        </p:nvSpPr>
        <p:spPr>
          <a:xfrm>
            <a:off x="6382512" y="3227832"/>
            <a:ext cx="4745736" cy="41147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字段标准、数据来源、质量检查、服务发布规范需要固化。</a:t>
            </a:r>
            <a:endParaRPr lang="zh-CN" sz="1320"/>
          </a:p>
        </p:txBody>
      </p:sp>
      <p:sp>
        <p:nvSpPr>
          <p:cNvPr id="50" name="工程化不足 card"/>
          <p:cNvSpPr txBox="1"/>
          <p:nvPr/>
        </p:nvSpPr>
        <p:spPr>
          <a:xfrm>
            <a:off x="685800" y="4206240"/>
            <a:ext cx="5074920" cy="10972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51" name="工程化不足 tag"/>
          <p:cNvSpPr txBox="1"/>
          <p:nvPr/>
        </p:nvSpPr>
        <p:spPr>
          <a:xfrm>
            <a:off x="850392" y="4370831"/>
            <a:ext cx="474573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B04A2F"/>
                </a:solidFill>
                <a:latin typeface="Microsoft YaHei"/>
                <a:ea typeface="Microsoft YaHei"/>
              </a:rPr>
              <a:t>工程化不足</a:t>
            </a:r>
            <a:endParaRPr lang="zh-CN" sz="1100"/>
          </a:p>
        </p:txBody>
      </p:sp>
      <p:sp>
        <p:nvSpPr>
          <p:cNvPr id="52" name="工程化不足 body"/>
          <p:cNvSpPr txBox="1"/>
          <p:nvPr/>
        </p:nvSpPr>
        <p:spPr>
          <a:xfrm>
            <a:off x="850392" y="4736592"/>
            <a:ext cx="4745736" cy="411479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部署、监控、日志、权限、安全和容器化能力尚未形成。</a:t>
            </a:r>
            <a:endParaRPr lang="zh-CN" sz="13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下一阶段计划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从“能展示”转向“能管理、能评价、能持续更新”。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14</a:t>
            </a:r>
            <a:endParaRPr lang="zh-CN" sz="1000"/>
          </a:p>
        </p:txBody>
      </p:sp>
      <p:sp>
        <p:nvSpPr>
          <p:cNvPr id="10" name="近期 1-2 周 card"/>
          <p:cNvSpPr txBox="1"/>
          <p:nvPr/>
        </p:nvSpPr>
        <p:spPr>
          <a:xfrm>
            <a:off x="594360" y="1143000"/>
            <a:ext cx="3337560" cy="4297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近期 1-2 周 tag"/>
          <p:cNvSpPr txBox="1"/>
          <p:nvPr/>
        </p:nvSpPr>
        <p:spPr>
          <a:xfrm>
            <a:off x="758952" y="1307592"/>
            <a:ext cx="300837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近期 1-2 周</a:t>
            </a:r>
            <a:endParaRPr lang="zh-CN" sz="1100"/>
          </a:p>
        </p:txBody>
      </p:sp>
      <p:sp>
        <p:nvSpPr>
          <p:cNvPr id="12" name="近期 1-2 周 body"/>
          <p:cNvSpPr txBox="1"/>
          <p:nvPr/>
        </p:nvSpPr>
        <p:spPr>
          <a:xfrm>
            <a:off x="758952" y="1673352"/>
            <a:ext cx="3008376" cy="3611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优化汇报演示版界面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梳理字段与数据目录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完善对象详情页展示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评价模块增加参数输入和结果解释</a:t>
            </a:r>
            <a:endParaRPr lang="zh-CN" sz="1320"/>
          </a:p>
        </p:txBody>
      </p:sp>
      <p:sp>
        <p:nvSpPr>
          <p:cNvPr id="20" name="中期 1 个月 card"/>
          <p:cNvSpPr txBox="1"/>
          <p:nvPr/>
        </p:nvSpPr>
        <p:spPr>
          <a:xfrm>
            <a:off x="4434840" y="1143000"/>
            <a:ext cx="3337560" cy="4297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1" name="中期 1 个月 tag"/>
          <p:cNvSpPr txBox="1"/>
          <p:nvPr/>
        </p:nvSpPr>
        <p:spPr>
          <a:xfrm>
            <a:off x="4599431" y="1307592"/>
            <a:ext cx="300837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中期 1 个月</a:t>
            </a:r>
            <a:endParaRPr lang="zh-CN" sz="1100"/>
          </a:p>
        </p:txBody>
      </p:sp>
      <p:sp>
        <p:nvSpPr>
          <p:cNvPr id="22" name="中期 1 个月 body"/>
          <p:cNvSpPr txBox="1"/>
          <p:nvPr/>
        </p:nvSpPr>
        <p:spPr>
          <a:xfrm>
            <a:off x="4599431" y="1673352"/>
            <a:ext cx="3008376" cy="3611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设计 PostgreSQL + PostGIS 数据库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建立对象关系模型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空间对象与表型数据逐步入库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建立数据更新和质量检查流程</a:t>
            </a:r>
            <a:endParaRPr lang="zh-CN" sz="1320"/>
          </a:p>
        </p:txBody>
      </p:sp>
      <p:sp>
        <p:nvSpPr>
          <p:cNvPr id="30" name="后续 1-2 月 card"/>
          <p:cNvSpPr txBox="1"/>
          <p:nvPr/>
        </p:nvSpPr>
        <p:spPr>
          <a:xfrm>
            <a:off x="8275320" y="1143000"/>
            <a:ext cx="3337560" cy="429768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1" name="后续 1-2 月 tag"/>
          <p:cNvSpPr txBox="1"/>
          <p:nvPr/>
        </p:nvSpPr>
        <p:spPr>
          <a:xfrm>
            <a:off x="8439912" y="1307592"/>
            <a:ext cx="3008376" cy="25603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100" b="1">
                <a:solidFill>
                  <a:srgbClr val="1F5FBF"/>
                </a:solidFill>
                <a:latin typeface="Microsoft YaHei"/>
                <a:ea typeface="Microsoft YaHei"/>
              </a:rPr>
              <a:t>后续 1-2 月</a:t>
            </a:r>
            <a:endParaRPr lang="zh-CN" sz="1100"/>
          </a:p>
        </p:txBody>
      </p:sp>
      <p:sp>
        <p:nvSpPr>
          <p:cNvPr id="32" name="后续 1-2 月 body"/>
          <p:cNvSpPr txBox="1"/>
          <p:nvPr/>
        </p:nvSpPr>
        <p:spPr>
          <a:xfrm>
            <a:off x="8439912" y="1673352"/>
            <a:ext cx="3008376" cy="36118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接入真实测井曲线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完善评价算法模型库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建立模型注册和结果保存机制</a:t>
            </a:r>
            <a:endParaRPr lang="zh-CN" sz="1320"/>
          </a:p>
          <a:p>
            <a:pPr algn="l"/>
            <a:r>
              <a:rPr lang="zh-CN" sz="1320">
                <a:solidFill>
                  <a:srgbClr val="17365D"/>
                </a:solidFill>
                <a:latin typeface="Microsoft YaHei"/>
                <a:ea typeface="Microsoft YaHei"/>
              </a:rPr>
              <a:t>推进部署、权限、日志和运维能力</a:t>
            </a:r>
            <a:endParaRPr lang="zh-CN" sz="13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"/>
          <p:cNvSpPr txBox="1"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502920" y="384048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2400" b="1">
                <a:solidFill>
                  <a:srgbClr val="002855"/>
                </a:solidFill>
                <a:latin typeface="Microsoft YaHei"/>
                <a:ea typeface="Microsoft YaHei"/>
              </a:rPr>
              <a:t>需要协同支持的问题</a:t>
            </a:r>
            <a:endParaRPr lang="zh-CN" sz="2400"/>
          </a:p>
        </p:txBody>
      </p:sp>
      <p:sp>
        <p:nvSpPr>
          <p:cNvPr id="4" name="subtitle"/>
          <p:cNvSpPr txBox="1"/>
          <p:nvPr/>
        </p:nvSpPr>
        <p:spPr>
          <a:xfrm>
            <a:off x="530352" y="850392"/>
            <a:ext cx="10424160" cy="34747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250">
                <a:solidFill>
                  <a:srgbClr val="4F6583"/>
                </a:solidFill>
                <a:latin typeface="Microsoft YaHei"/>
                <a:ea typeface="Microsoft YaHei"/>
              </a:rPr>
              <a:t>下一阶段需要数据、GIS、业务和算法多方协同。</a:t>
            </a:r>
            <a:endParaRPr lang="zh-CN" sz="1250"/>
          </a:p>
        </p:txBody>
      </p:sp>
      <p:sp>
        <p:nvSpPr>
          <p:cNvPr id="5" name="slide no"/>
          <p:cNvSpPr txBox="1"/>
          <p:nvPr/>
        </p:nvSpPr>
        <p:spPr>
          <a:xfrm>
            <a:off x="11109960" y="6355080"/>
            <a:ext cx="594360" cy="219456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r"/>
            <a:r>
              <a:rPr lang="zh-CN" sz="1000">
                <a:solidFill>
                  <a:srgbClr val="8EA3BF"/>
                </a:solidFill>
                <a:latin typeface="Microsoft YaHei"/>
                <a:ea typeface="Microsoft YaHei"/>
              </a:rPr>
              <a:t>15</a:t>
            </a:r>
            <a:endParaRPr lang="zh-CN" sz="1000"/>
          </a:p>
        </p:txBody>
      </p:sp>
      <p:sp>
        <p:nvSpPr>
          <p:cNvPr id="10" name="needbg"/>
          <p:cNvSpPr txBox="1"/>
          <p:nvPr/>
        </p:nvSpPr>
        <p:spPr>
          <a:xfrm>
            <a:off x="731520" y="1170432"/>
            <a:ext cx="10607040" cy="56692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1" name="needh"/>
          <p:cNvSpPr txBox="1"/>
          <p:nvPr/>
        </p:nvSpPr>
        <p:spPr>
          <a:xfrm>
            <a:off x="960120" y="129844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业务专家</a:t>
            </a:r>
            <a:endParaRPr lang="zh-CN" sz="1400"/>
          </a:p>
        </p:txBody>
      </p:sp>
      <p:sp>
        <p:nvSpPr>
          <p:cNvPr id="12" name="needb"/>
          <p:cNvSpPr txBox="1"/>
          <p:nvPr/>
        </p:nvSpPr>
        <p:spPr>
          <a:xfrm>
            <a:off x="2423160" y="129844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50">
                <a:solidFill>
                  <a:srgbClr val="17365D"/>
                </a:solidFill>
                <a:latin typeface="Microsoft YaHei"/>
                <a:ea typeface="Microsoft YaHei"/>
              </a:rPr>
              <a:t>明确评价指标体系、权重依据和评价结果解释口径。</a:t>
            </a:r>
            <a:endParaRPr lang="zh-CN" sz="1350"/>
          </a:p>
        </p:txBody>
      </p:sp>
      <p:sp>
        <p:nvSpPr>
          <p:cNvPr id="13" name="needbg"/>
          <p:cNvSpPr txBox="1"/>
          <p:nvPr/>
        </p:nvSpPr>
        <p:spPr>
          <a:xfrm>
            <a:off x="731520" y="1947672"/>
            <a:ext cx="10607040" cy="56692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4" name="needh"/>
          <p:cNvSpPr txBox="1"/>
          <p:nvPr/>
        </p:nvSpPr>
        <p:spPr>
          <a:xfrm>
            <a:off x="960120" y="207568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数据组</a:t>
            </a:r>
            <a:endParaRPr lang="zh-CN" sz="1400"/>
          </a:p>
        </p:txBody>
      </p:sp>
      <p:sp>
        <p:nvSpPr>
          <p:cNvPr id="15" name="needb"/>
          <p:cNvSpPr txBox="1"/>
          <p:nvPr/>
        </p:nvSpPr>
        <p:spPr>
          <a:xfrm>
            <a:off x="2423160" y="207568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50">
                <a:solidFill>
                  <a:srgbClr val="17365D"/>
                </a:solidFill>
                <a:latin typeface="Microsoft YaHei"/>
                <a:ea typeface="Microsoft YaHei"/>
              </a:rPr>
              <a:t>提供稳定数据下载、字段说明、更新频率和质量校验标准。</a:t>
            </a:r>
            <a:endParaRPr lang="zh-CN" sz="1350"/>
          </a:p>
        </p:txBody>
      </p:sp>
      <p:sp>
        <p:nvSpPr>
          <p:cNvPr id="16" name="needbg"/>
          <p:cNvSpPr txBox="1"/>
          <p:nvPr/>
        </p:nvSpPr>
        <p:spPr>
          <a:xfrm>
            <a:off x="731520" y="2724912"/>
            <a:ext cx="10607040" cy="56692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17" name="needh"/>
          <p:cNvSpPr txBox="1"/>
          <p:nvPr/>
        </p:nvSpPr>
        <p:spPr>
          <a:xfrm>
            <a:off x="960120" y="285292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GIS 组</a:t>
            </a:r>
            <a:endParaRPr lang="zh-CN" sz="1400"/>
          </a:p>
        </p:txBody>
      </p:sp>
      <p:sp>
        <p:nvSpPr>
          <p:cNvPr id="18" name="needb"/>
          <p:cNvSpPr txBox="1"/>
          <p:nvPr/>
        </p:nvSpPr>
        <p:spPr>
          <a:xfrm>
            <a:off x="2423160" y="285292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50">
                <a:solidFill>
                  <a:srgbClr val="17365D"/>
                </a:solidFill>
                <a:latin typeface="Microsoft YaHei"/>
                <a:ea typeface="Microsoft YaHei"/>
              </a:rPr>
              <a:t>明确 MapGIS 服务发布规范、命名规则、坐标系和字段保留策略。</a:t>
            </a:r>
            <a:endParaRPr lang="zh-CN" sz="1350"/>
          </a:p>
        </p:txBody>
      </p:sp>
      <p:sp>
        <p:nvSpPr>
          <p:cNvPr id="19" name="needbg"/>
          <p:cNvSpPr txBox="1"/>
          <p:nvPr/>
        </p:nvSpPr>
        <p:spPr>
          <a:xfrm>
            <a:off x="731520" y="3502152"/>
            <a:ext cx="10607040" cy="56692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0" name="needh"/>
          <p:cNvSpPr txBox="1"/>
          <p:nvPr/>
        </p:nvSpPr>
        <p:spPr>
          <a:xfrm>
            <a:off x="960120" y="363016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算法组</a:t>
            </a:r>
            <a:endParaRPr lang="zh-CN" sz="1400"/>
          </a:p>
        </p:txBody>
      </p:sp>
      <p:sp>
        <p:nvSpPr>
          <p:cNvPr id="21" name="needb"/>
          <p:cNvSpPr txBox="1"/>
          <p:nvPr/>
        </p:nvSpPr>
        <p:spPr>
          <a:xfrm>
            <a:off x="2423160" y="363016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50">
                <a:solidFill>
                  <a:srgbClr val="17365D"/>
                </a:solidFill>
                <a:latin typeface="Microsoft YaHei"/>
                <a:ea typeface="Microsoft YaHei"/>
              </a:rPr>
              <a:t>协助梳理石化领域评价模型、公式、参数边界和验证样本。</a:t>
            </a:r>
            <a:endParaRPr lang="zh-CN" sz="1350"/>
          </a:p>
        </p:txBody>
      </p:sp>
      <p:sp>
        <p:nvSpPr>
          <p:cNvPr id="22" name="needbg"/>
          <p:cNvSpPr txBox="1"/>
          <p:nvPr/>
        </p:nvSpPr>
        <p:spPr>
          <a:xfrm>
            <a:off x="731520" y="4279392"/>
            <a:ext cx="10607040" cy="56692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D7E3F4"/>
            </a:solidFill>
          </a:ln>
        </p:spPr>
        <p:txBody>
          <a:bodyPr wrap="square" lIns="109728" tIns="109728" rIns="109728" bIns="109728"/>
          <a:lstStyle/>
          <a:p/>
        </p:txBody>
      </p:sp>
      <p:sp>
        <p:nvSpPr>
          <p:cNvPr id="23" name="needh"/>
          <p:cNvSpPr txBox="1"/>
          <p:nvPr/>
        </p:nvSpPr>
        <p:spPr>
          <a:xfrm>
            <a:off x="960120" y="4407408"/>
            <a:ext cx="141732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400" b="1">
                <a:solidFill>
                  <a:srgbClr val="1F5FBF"/>
                </a:solidFill>
                <a:latin typeface="Microsoft YaHei"/>
                <a:ea typeface="Microsoft YaHei"/>
              </a:rPr>
              <a:t>工程组</a:t>
            </a:r>
            <a:endParaRPr lang="zh-CN" sz="1400"/>
          </a:p>
        </p:txBody>
      </p:sp>
      <p:sp>
        <p:nvSpPr>
          <p:cNvPr id="24" name="needb"/>
          <p:cNvSpPr txBox="1"/>
          <p:nvPr/>
        </p:nvSpPr>
        <p:spPr>
          <a:xfrm>
            <a:off x="2423160" y="4407408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l"/>
            <a:r>
              <a:rPr lang="zh-CN" sz="1350">
                <a:solidFill>
                  <a:srgbClr val="17365D"/>
                </a:solidFill>
                <a:latin typeface="Microsoft YaHei"/>
                <a:ea typeface="Microsoft YaHei"/>
              </a:rPr>
              <a:t>明确数据库、部署环境、权限、日志和运维要求。</a:t>
            </a:r>
            <a:endParaRPr lang="zh-CN" sz="13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5FF"/>
          </a:solidFill>
          <a:ln>
            <a:noFill/>
          </a:ln>
        </p:spPr>
        <p:txBody>
          <a:bodyPr wrap="square" lIns="109728" tIns="109728" rIns="109728" bIns="109728"/>
          <a:lstStyle/>
          <a:p/>
        </p:txBody>
      </p:sp>
      <p:sp>
        <p:nvSpPr>
          <p:cNvPr id="3" name="endtitle"/>
          <p:cNvSpPr txBox="1"/>
          <p:nvPr/>
        </p:nvSpPr>
        <p:spPr>
          <a:xfrm>
            <a:off x="960120" y="160020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c"/>
            <a:r>
              <a:rPr lang="zh-CN" sz="3000" b="1">
                <a:solidFill>
                  <a:srgbClr val="002855"/>
                </a:solidFill>
                <a:latin typeface="Microsoft YaHei"/>
                <a:ea typeface="Microsoft YaHei"/>
              </a:rPr>
              <a:t>阶段结论</a:t>
            </a:r>
            <a:endParaRPr lang="zh-CN" sz="3000"/>
          </a:p>
        </p:txBody>
      </p:sp>
      <p:sp>
        <p:nvSpPr>
          <p:cNvPr id="4" name="endbody"/>
          <p:cNvSpPr txBox="1"/>
          <p:nvPr/>
        </p:nvSpPr>
        <p:spPr>
          <a:xfrm>
            <a:off x="1234440" y="2514600"/>
            <a:ext cx="9738360" cy="1097280"/>
          </a:xfrm>
          <a:prstGeom prst="roundRect">
            <a:avLst/>
          </a:prstGeom>
          <a:solidFill>
            <a:srgbClr val="1F5FBF"/>
          </a:solidFill>
          <a:ln>
            <a:noFill/>
          </a:ln>
        </p:spPr>
        <p:txBody>
          <a:bodyPr wrap="square" lIns="109728" tIns="109728" rIns="109728" bIns="109728"/>
          <a:lstStyle/>
          <a:p>
            <a:pPr algn="c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</a:rPr>
              <a:t>当前工作已经完成从真实数据整理、MapGIS 服务发布到平台化展示和评价算法原型的初步贯通。</a:t>
            </a:r>
            <a:endParaRPr lang="zh-CN" sz="2000"/>
          </a:p>
          <a:p>
            <a:pPr algn="c"/>
            <a:r>
              <a:rPr lang="zh-CN" sz="2000" b="1">
                <a:solidFill>
                  <a:srgbClr val="FFFFFF"/>
                </a:solidFill>
                <a:latin typeface="Microsoft YaHei"/>
                <a:ea typeface="Microsoft YaHei"/>
              </a:rPr>
              <a:t>下一阶段重点是补齐数据库、数据治理、真实曲线和专业评价模型。</a:t>
            </a:r>
            <a:endParaRPr lang="zh-CN" sz="2000"/>
          </a:p>
        </p:txBody>
      </p:sp>
      <p:sp>
        <p:nvSpPr>
          <p:cNvPr id="5" name="thanks"/>
          <p:cNvSpPr txBox="1"/>
          <p:nvPr/>
        </p:nvSpPr>
        <p:spPr>
          <a:xfrm>
            <a:off x="3977639" y="4983480"/>
            <a:ext cx="4206240" cy="438912"/>
          </a:xfrm>
          <a:prstGeom prst="rect">
            <a:avLst/>
          </a:prstGeom>
          <a:noFill/>
          <a:ln>
            <a:noFill/>
          </a:ln>
        </p:spPr>
        <p:txBody>
          <a:bodyPr wrap="square" lIns="109728" tIns="109728" rIns="109728" bIns="109728"/>
          <a:lstStyle/>
          <a:p>
            <a:pPr algn="c"/>
            <a:r>
              <a:rPr lang="zh-CN" sz="2000" b="1">
                <a:solidFill>
                  <a:srgbClr val="002855"/>
                </a:solidFill>
                <a:latin typeface="Microsoft YaHei"/>
                <a:ea typeface="Microsoft YaHei"/>
              </a:rPr>
              <a:t>请各位专家批评指正</a:t>
            </a:r>
            <a:endParaRPr lang="zh-CN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">
      <a:dk1>
        <a:srgbClr val="002855"/>
      </a:dk1>
      <a:lt1>
        <a:srgbClr val="FFFFFF"/>
      </a:lt1>
      <a:dk2>
        <a:srgbClr val="17365D"/>
      </a:dk2>
      <a:lt2>
        <a:srgbClr val="EEF5FF"/>
      </a:lt2>
      <a:accent1>
        <a:srgbClr val="1F5FBF"/>
      </a:accent1>
      <a:accent2>
        <a:srgbClr val="2FAE96"/>
      </a:accent2>
      <a:accent3>
        <a:srgbClr val="F39C12"/>
      </a:accent3>
      <a:accent4>
        <a:srgbClr val="B04A2F"/>
      </a:accent4>
      <a:accent5>
        <a:srgbClr val="5B6C8C"/>
      </a:accent5>
      <a:accent6>
        <a:srgbClr val="8EA3BF"/>
      </a:accent6>
      <a:hlink>
        <a:srgbClr val="1F5FBF"/>
      </a:hlink>
      <a:folHlink>
        <a:srgbClr val="7A5FA8"/>
      </a:folHlink>
    </a:clrScheme>
    <a:fontScheme name="Custom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ustom">
      <a:fillStyleLst>
        <a:solidFill>
          <a:schemeClr val="phClr"/>
        </a:solidFill>
      </a:fillStyleLst>
      <a:lnStyleLst>
        <a:ln w="1270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宽屏</PresentationFormat>
  <Slides>16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石化地学数据展示平台研究进展汇报</dc:title>
  <dc:creator>Codex</dc:creator>
  <cp:lastModifiedBy>Codex</cp:lastModifiedBy>
  <dcterms:created xsi:type="dcterms:W3CDTF">2026-07-13T07:19:14Z</dcterms:created>
  <dcterms:modified xsi:type="dcterms:W3CDTF">2026-07-13T07:19:14Z</dcterms:modified>
</cp:coreProperties>
</file>